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file:///A:\projects\code_projects\&#22826;&#20445;PPT&#31572;&#36777;\claims_product\&#21551;&#21160;&#29702;&#36180;&#21327;&#26597;&#24212;&#31572;&#21161;&#25163;.ba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BF7"/>
                </a:solidFill>
                <a:latin typeface="微软雅黑" panose="020B0503020204020204" charset="-122"/>
                <a:ea typeface="微软雅黑" panose="020B0503020204020204" charset="-122"/>
              </a:rPr>
              <a:t>2026 校园招聘 · 太保之星管培生 · 个人展示（主题一）</a:t>
            </a:r>
            <a:endParaRPr sz="1400" b="0">
              <a:solidFill>
                <a:srgbClr val="D6EB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
探索与规划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从场景探索到作业闭环 · 对接数智太保公开能力 · 人审优先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BF7"/>
                </a:solidFill>
                <a:latin typeface="微软雅黑" panose="020B0503020204020204" charset="-122"/>
                <a:ea typeface="微软雅黑" panose="020B0503020204020204" charset="-122"/>
              </a:rPr>
              <a:t>杨昀昊  |  对标个人在美的《品质AI智能体探索与规划》方法论  |  2026.10</a:t>
            </a:r>
            <a:endParaRPr sz="1300" b="0">
              <a:solidFill>
                <a:srgbClr val="D6EB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DEMO_LINK">
            <a:hlinkClick r:id="rId1"/>
          </p:cNvPr>
          <p:cNvSpPr/>
          <p:nvPr/>
        </p:nvSpPr>
        <p:spPr>
          <a:xfrm>
            <a:off x="7863840" y="5989320"/>
            <a:ext cx="3931920" cy="502920"/>
          </a:xfrm>
          <a:prstGeom prst="round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▶ 打开 Demo 工作台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目  录 ｜ 从场景探索到业务闭环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868680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EEF6FB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0332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1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4560" y="9418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必要性与紧迫性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12161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范式跃迁 · 三大痛点 · 与太保公开能力对接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1618488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2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60" y="1691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基本框架与评价标准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1965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能力等级 L0–L5 · 四层架构 · 评测口径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2368296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EEF6FB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32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3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4560" y="2441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智能体 1.0 — 业务探索场景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4560" y="27157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补材 / 进度应答 / 协查取数 · 知识库目录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3118104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826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4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4560" y="31912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智能体 2.0 — 按岗位职责重构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346557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 / 客服 / 质检 · 可行性分层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3867912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EEF6FB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325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5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4560" y="39410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智能体 3.0 — 风险与合规重塑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4560" y="42153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治理红线 · 不做自动核赔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7200" y="4617719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8231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6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94560" y="4690871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推进路线与成效指标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4560" y="4965191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试点节奏 · KPI · 验收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5367528"/>
            <a:ext cx="11247120" cy="658368"/>
          </a:xfrm>
          <a:prstGeom prst="roundRect">
            <a:avLst>
              <a:gd name="adj" fmla="val 5000"/>
            </a:avLst>
          </a:prstGeom>
          <a:solidFill>
            <a:srgbClr val="EEF6FB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PART 7</a:t>
            </a:r>
            <a:endParaRPr sz="14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4560" y="5440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资源需求与风险提示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4560" y="57150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组织协同 · 降调边界 · 答辩附录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1  必要性｜理赔服务作业正在经历范式跃迁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777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作业范式：信息化 → 数字化 → 自动化 → 智能体（感知-检索-草稿-人审-回写）</a:t>
            </a:r>
            <a:endParaRPr sz="12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信息化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核心系统
电子工单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1800" y="1691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83280" y="118872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数字化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数据中台
进度可视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97880" y="1691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118872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4AA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规则引擎
OCR/直连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23960" y="1691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8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235440" y="118872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280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72600" y="17373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RAG+Agent
人审闭环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28346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与太保公开能力对接（主语是「太保已具备」，本方案做末梢补齐）</a:t>
            </a:r>
            <a:endParaRPr sz="12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65760" y="31546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公开能力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公开口径（示例）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本方案对接点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刻意不重复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座席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覆盖约 46% 客服量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对客进度/补件口径草稿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不替代全量智能坐席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健康险智能理赔助手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判责≈99% / 人效+83% 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材料齐全性与协查副驾驶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不重复自动判责主战场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Di08-4 智能理赔中台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OCR·审核大模型·风控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引用中台结果做解释草稿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不另建一套核赔引擎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AI+ / 数智太保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微应用+流程创新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管培视角的场景化落地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不空谈集团战略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1  必要性｜三个核心痛点 → AI 重构目标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822960"/>
            <a:ext cx="11430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22960"/>
            <a:ext cx="137160" cy="1691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932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痛点 1</a:t>
            </a:r>
            <a:endParaRPr sz="12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0320" y="9326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协查依赖人肉跳系统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现状：核心/理赔/影像/工单割裂，同一案件反复登录查找。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AI目标：按案件问题取必要字段（白名单查询），输出案件上下文卡。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对应能力：DataAgent 式取数编排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2651760"/>
            <a:ext cx="11430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137160" cy="16916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痛点 2</a:t>
            </a:r>
            <a:endParaRPr sz="12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60320" y="27614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经验留在个人/文档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现状：条款、作业指导、补件口径散落；新人难上手，口径不一。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AI目标：知识库 + RAG 强制引用，草稿可追溯到源片段。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对应能力：安规知识库 / Skill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4480560"/>
            <a:ext cx="11430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480560"/>
            <a:ext cx="137160" cy="16916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902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微软雅黑" panose="020B0503020204020204" charset="-122"/>
                <a:ea typeface="微软雅黑" panose="020B0503020204020204" charset="-122"/>
              </a:rPr>
              <a:t>痛点 3</a:t>
            </a:r>
            <a:endParaRPr sz="1200" b="1">
              <a:solidFill>
                <a:srgbClr val="0072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60320" y="45902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对客解释靠事后补救</a:t>
            </a:r>
            <a:endParaRPr sz="15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现状：进度问询与补件多次往返，易投诉；不宜承诺未决结论。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AI目标：一次性补件清单 + 进度说明草稿 + 人审外发。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对应能力：人审 Loop / 时效验收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2  框架｜能力等级与本方案落位点（借鉴 Agent Levels / 自动驾驶分级思路）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77724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参考：Levels of AI Agents（公开论文思路）· 本方案一期锚定 L2，严控进入 L3+ 的自动决策区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0040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L0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无智能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3192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纯人工查系统写回复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86000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4AA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规则智能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59152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模板话术/固定清单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51960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519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检索推理
+人审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5112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RAG草稿+字段卡
+终审外发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17919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19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记忆反思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91071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bad case复盘
自动改知识/提示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83880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自主学习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7032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策略自优化
少人干预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149840" y="118872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4984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群体智能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22992" y="21945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多Agent自治
跨条线协同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" y="3840480"/>
            <a:ext cx="11521440" cy="2377440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本方案一期（面试落地叙事）= L2「检索推理 + 人审」</a:t>
            </a:r>
            <a:endParaRPr sz="14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02920" y="438912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评价维度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准入标准（一期）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否决项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引用可追溯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对外/对内草稿均带知识片段或字段来源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无引用的结论性表述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人审覆盖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外发前 100% 人工确认（可配置抽检加强）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无人审自动外发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权限最小化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字段白名单 + 岗位授权 + 审计日志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越权取数 / 全库漫游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业务指标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响应时长、一次补全率、人审通过率、错引率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仅用「模型准确率」代替业务验收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2  框架｜系统逻辑架构（应用层 → 编排层 → 知识/工具层 → 数据源）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86868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868680"/>
            <a:ext cx="2194560" cy="109728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80360" y="118872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理赔协查工作台 · 客服应答助手 · 质检抽检台 · 试点看板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21031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2194560" cy="109728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编排层（Agent）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80360" y="242316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意图识别 · 场景路由 · 规划/工具调用 · 草稿生成 · 人审门禁 · 回写工单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A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37560"/>
            <a:ext cx="2194560" cy="1097280"/>
          </a:xfrm>
          <a:prstGeom prst="rect">
            <a:avLst/>
          </a:prstGeom>
          <a:solidFill>
            <a:srgbClr val="4AA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知识与工具层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80360" y="365760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RAG知识库 · 字段查询工具(白名单) · 材料清单规则 · 话术Skill · 评测集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219456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数据与权限源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80360" y="4892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核心/理赔/影像/客服工单（只读对接设想）· 权限中心 · 审计日志 · 脱敏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说明：架构为规划逻辑图，不绑定未公开的太保内部系统名；实施时应复用集团 AI 中台 / 知识工程能力，避免烟囱式重建。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3  智能体1.0｜业务探索场景清单（场景→变革→价值→节点）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822960"/>
          <a:ext cx="117043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64"/>
                <a:gridCol w="2340864"/>
                <a:gridCol w="2340864"/>
                <a:gridCol w="2340864"/>
                <a:gridCol w="2340864"/>
              </a:tblGrid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业务变革内容（输入→处理→输出）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价值贡献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规划节点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
协查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一次性
补件清单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输入案件类型/险种/已交材料 → 检索材料规则库
→ 输出缺件清单+样张指引（人审后发送）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减少多次往返
提升一次补全率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
试点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进度
应答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对客进度
说明草稿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输入案件号 → 取节点状态字段 → 套用合规话术
→ 生成进度说明（禁止承诺赔付结论）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统一口径
降低催办投诉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
试点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内部
协查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案件上下
文卡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输入问题类型 → 白名单取必要字段/影像索引
→ 输出协查卡给理赔员（可跳转原系统）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减少跨系统
查找时间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
试点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
问答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条款/作业
指导问答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输入问题 → RAG 检索并强制引用片段
→ 对内解释草稿（高风险话术禁直出）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新人赋能
口径一致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
并行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质检
闭环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错引/越权
抽检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抽检人审通过件 → 比对引用与外发文本
→ bad case 回流知识库/提示词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治理闭环
支撑进阶L3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一期末
启动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3  智能体1.0｜知识库一级/二级目录（可治理资产，而非「丢进向量库」）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86868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868680"/>
            <a:ext cx="3703320" cy="41148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9418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产品与条款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条款全文/摘要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责任/除外要点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等待期·免赔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常见误解FAQ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251960" y="86868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868680"/>
            <a:ext cx="3703320" cy="411480"/>
          </a:xfrm>
          <a:prstGeom prst="rect">
            <a:avLst/>
          </a:prstGeom>
          <a:solidFill>
            <a:srgbClr val="4AA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9418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作业指导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34840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理赔SOP节点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时效要求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调查触发条件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升级路径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38160" y="86868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868680"/>
            <a:ext cx="3703320" cy="411480"/>
          </a:xfrm>
          <a:prstGeom prst="rect">
            <a:avLst/>
          </a:prstGeom>
          <a:solidFill>
            <a:srgbClr val="2E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9418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材料规则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1040" y="1417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按险种材料清单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样张/示例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一次性告知模板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特殊情形例外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356616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703320" cy="41148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对客话术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进度说明模板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补件通知模板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禁止承诺清单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投诉安抚口径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51960" y="356616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566160"/>
            <a:ext cx="37033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639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字段字典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3484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案件主数据字段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权限等级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脱敏规则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取数白名单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38160" y="3566160"/>
            <a:ext cx="370332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566160"/>
            <a:ext cx="3703320" cy="41148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6393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案例库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典型补件案例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错引bad case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优秀应答样例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质检点评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3  智能体1.0｜端到端作业环（含人审门禁）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 受理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案件号
问题类型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92024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024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 路由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6596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场景识别
风险分级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1188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 检索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知识库RAG
强制引用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0352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 取数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4924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白名单字段
权限校验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9516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516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 生成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088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清单/草稿
上下文卡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68680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1005840"/>
            <a:ext cx="1554480" cy="3657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 人审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3252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通过/驳回
修改留痕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378440" y="1005840"/>
            <a:ext cx="1554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378440" y="1005840"/>
            <a:ext cx="15544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 回写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424160" y="1508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外发/入工单
审计日志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5760" y="3063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人审门禁规则（一期硬约束）</a:t>
            </a:r>
            <a:endParaRPr sz="13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65760" y="3429000"/>
          <a:ext cx="11430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门禁项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失败处理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引用检查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草稿含引用ID/条款片段，否则不可提交人审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退回生成，提示补检索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禁区话术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命中「保证赔付/承诺时限金额」等 → 拦截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强制改写为中性进度说明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权限检查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取数字段超出岗位白名单 → 拦截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申请授权或降级为「仅知识问答」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人审动作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通过 / 修改后通过 / 驳回（必填原因）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驳回进入 bad case 队列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4  智能体2.0｜按岗位职责的 AI 重构（可行性分层）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74980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高=现有技术可落地｜中=需领域评测与流程改造｜低=依赖监管/责任制度突破（本方案不碰）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1051560"/>
          <a:ext cx="11704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  <a:gridCol w="1950720"/>
                <a:gridCol w="1950720"/>
                <a:gridCol w="1950720"/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岗位/领域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子任务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AI重构方案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可行性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技术路径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预期效果(方向)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理赔协查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材料齐全性预审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规则清单+LLM辅助核对已交材料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规则引擎+RAG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一次补全率↑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理赔协查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跨系统上下文汇总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白名单取数生成协查卡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查询工具+模板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查找耗时↓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客服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进度问询应答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节点字段+合规话术草稿+人审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RAG+Skill+人审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催办投诉↓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客服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情绪安抚话术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话术库检索+禁区过滤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RAG+规则过滤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满意度稳中有升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质检/运营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错引抽检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引用比对+抽样看板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规则+日志分析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错引率可控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理赔审核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自动定损/核赔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——（明确不做）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责任不可外包给模型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5  智能体3.0｜风险合规重塑：先成为可靠副驾驶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82296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风险类型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典型表现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控制措施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责任归属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幻觉/错引条款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草稿看似专业但引用错误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强制引用；高风险禁直出；质检抽检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外发责任在人审人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隐私与越权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取到与岗位无关的客户字段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字段白名单；脱敏；审计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权限中心+使用人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不当承诺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对客承诺赔付结论/时限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禁区词表+拦截；话术模板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客服主管/人审人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流程漂移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绕过人审直接外发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系统门禁不可关闭（生产）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平台治理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知识腐烂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旧条款/旧口径仍被检索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版本管理；生效区间；负责人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知识Owner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重复建设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烟囱式Agent脱离中台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复用集团AI/知识工程能力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架构治理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5577840"/>
            <a:ext cx="11612880" cy="73152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3.0 方向不是「更敢自动」，而是「更敢治理」：评测集、bad case 回流、知识版本、责任清晰——再谈扩大自动化边界。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6  推进路线｜试点 → 扩场景 → 治理进阶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822960"/>
          <a:ext cx="11612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周期(示意)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核心内容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交付物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退出/准入条件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对齐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2–4 周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选1–2高频场景；盘点可对接字段与知识Owner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场景说明书+字段白名单草案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业务方书面确认边界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试点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6–10 周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补件清单+进度草稿+人审门禁；小范围试用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可用工作流+评测集v1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人审通过率达标且零重大错引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 扩面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下阶段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扩险种/扩问题类型；接入质检抽检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知识目录完整版+看板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一次补全率/响应时长改善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治理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持续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bad case回流；知识版本；L3记忆反思能力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治理周报+版本发布机制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可审计、可回滚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42976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成效指标（试点可验收 · 不编造太保内部基线）</a:t>
            </a:r>
            <a:endParaRPr sz="1300" b="1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461772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观察方式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首次响应时长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问询进入→首次有效回复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工单时间戳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人审耗时应计入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一次补全率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一次告知后补齐材料占比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补件闭环统计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核心业务价值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人审通过率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一次通过 / (通过+驳回+大改)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人审日志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过低说明生成质量差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错引率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抽检发现错误引用占比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质检抽样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一票否决类指标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禁区拦截次数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命中不当承诺被拦次数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门禁日志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越高越说明规则有用</a:t>
                      </a:r>
                      <a:endParaRPr sz="9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PART 7  资源需求 · 个人迁移能力 · 风险提示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0040" y="822960"/>
            <a:ext cx="5669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822960"/>
            <a:ext cx="5669280" cy="36576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8778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落地所需协同（管培视角）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13258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业务：理赔/客服场景Owner、知识Owner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科技：AI中台/知识工程/权限与审计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风控合规：禁区话术与外发规范评审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运营：试点名单、质检抽样、周复盘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数据：字段口径确认（只读最小集）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822960"/>
            <a:ext cx="56235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822960"/>
            <a:ext cx="5623560" cy="365760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8778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我为何能推进（美的同构经验）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DataAgent：跨系统取数编排（非训模）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安规Loop：知识库+Skill+运营终审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处理时效约+120%（美的场景，可迁移方法）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Skill工程：需求→逻辑→测试→试用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定位：数字化管培，不是纯算法岗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4206240"/>
            <a:ext cx="11521440" cy="2057400"/>
          </a:xfrm>
          <a:prstGeom prst="rect">
            <a:avLst/>
          </a:prstGeom>
          <a:solidFill>
            <a:srgbClr val="F8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风险提示 / 主动降调（答辩必讲）</a:t>
            </a:r>
            <a:endParaRPr sz="130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不把太保公开的「判责准确率/人效」说成自己能立刻达到的数字；那些是集团已建设能力。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不说「打通所有系统/全自动回复」；正确表述是「白名单取数 + 人审外发」。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一期明确不做自动定损、自动核赔、自动对客承诺赔付。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最大风险是错得像真的——所以治理先于模型炫技。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附录  5 分钟口播路径（提交用详细版 · 现场按此压缩）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8686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讲什么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对应页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一句钉子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0072B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0:00–0:40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选题+对接太保公开能力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P3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不重复自动核赔，做协查副驾驶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0:40–1:30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三大痛点→AI目标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P4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跳系统/口径散/事后补救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1:30–3:10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应用形态+人审门禁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P7–P9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检索·取数·草稿·人审·回写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3:10–4:00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我为何能做（美的迁移）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P13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DataAgent+安规Loop同构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4:00–4:50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风险冷水+试点指标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P11–P12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先提效可控，不做自动赔付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4:50–5:00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收束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P15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可靠副驾驶，再谈自动驾驶</a:t>
                      </a:r>
                      <a:endParaRPr sz="11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EF6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  <a:latin typeface="微软雅黑" panose="020B0503020204020204" charset="-122"/>
                <a:ea typeface="微软雅黑" panose="020B0503020204020204" charset="-122"/>
              </a:rPr>
              <a:t>提交策略：本 PPT 按「规划报告」详细度撰写，体现结构化思考；现场展示用 5 分钟路径，避免照念表格。
若面试官追问细节，可展开知识库目录、门禁规则、可行性分层与评测指标。</a:t>
            </a:r>
            <a:endParaRPr sz="1300" b="0">
              <a:solidFill>
                <a:srgbClr val="1A3A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在保险理赔末梢：
先成为可靠副驾驶，再谈自动驾驶。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BF7"/>
                </a:solidFill>
                <a:latin typeface="微软雅黑" panose="020B0503020204020204" charset="-122"/>
                <a:ea typeface="微软雅黑" panose="020B0503020204020204" charset="-122"/>
              </a:rPr>
              <a:t>提效 · 可追责 · 可试点 · 可治理</a:t>
            </a:r>
            <a:endParaRPr sz="1800" b="0">
              <a:solidFill>
                <a:srgbClr val="D6EB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谢谢各位老师 ｜ 杨昀昊 ｜ 主题一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D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E8C"/>
                </a:solidFill>
                <a:latin typeface="微软雅黑" panose="020B0503020204020204" charset="-122"/>
                <a:ea typeface="微软雅黑" panose="020B0503020204020204" charset="-122"/>
              </a:rPr>
              <a:t>附录  主要公开来源（便于质询时溯源）</a:t>
            </a:r>
            <a:endParaRPr sz="1800" b="1">
              <a:solidFill>
                <a:srgbClr val="00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26880" y="146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太保之星 · 主题一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603504"/>
            <a:ext cx="11612880" cy="137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理赔协查与客户应答智能体 · 探索与规划（公开信息口径 · 辅助人审定位）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王磊（中国太保CIO）：《保险机构数字化转型路径》，中国金融杂志 / 新浪财经，2025-08-29（AI座席、健康险理赔助手、AI中台等公开口径）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中国太保 2024 年报（港交所披露）：Di08-4 智能理赔服务中台、数字劳动力、数智太保等相关表述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中国太保业绩说明会公开材料：AI+战略、健康险理赔自动化与体验相关问答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公开报道：金融消保与服务创新案例中「太贴心」等理赔服务数字化实践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行业公开：理赔材料清单/作业节点培训材料（用于材料规则目录设计，非太保内部制度）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方法参考：Agent 能力分级公开论文思路；Multi-Agent + RAG + 强制引用 + 人审门禁的行业 POC 实践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个人经验：美的质量研究院 DataAgent / 安规回复 Loop / Skill 工程（迁移方法，不迁移未公开数据）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•  完整口径备忘：见同目录 knowledge/来源与口径.md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46304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6FB5"/>
                </a:solidFill>
                <a:latin typeface="微软雅黑" panose="020B0503020204020204" charset="-122"/>
                <a:ea typeface="微软雅黑" panose="020B0503020204020204" charset="-122"/>
              </a:rPr>
              <a:t>PART 2</a:t>
            </a:r>
            <a:endParaRPr sz="1200" b="1">
              <a:solidFill>
                <a:srgbClr val="1F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2" y="365760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0E3A66"/>
                </a:solidFill>
                <a:latin typeface="微软雅黑" panose="020B0503020204020204" charset="-122"/>
                <a:ea typeface="微软雅黑" panose="020B0503020204020204" charset="-122"/>
              </a:rPr>
              <a:t>协查应答智能体整体架构</a:t>
            </a:r>
            <a:endParaRPr sz="2600" b="1">
              <a:solidFill>
                <a:srgbClr val="0E3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472" y="786384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微软雅黑" panose="020B0503020204020204" charset="-122"/>
                <a:ea typeface="微软雅黑" panose="020B0503020204020204" charset="-122"/>
              </a:rPr>
              <a:t>按协查应答作业链搭一组智能体。材料、进度、内部协查、条款问答、质检，同一套平台和知识库。</a:t>
            </a:r>
            <a:endParaRPr sz="1300" b="0">
              <a:solidFill>
                <a:srgbClr val="5C6B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92608" y="1170432"/>
            <a:ext cx="7360920" cy="822960"/>
          </a:xfrm>
          <a:prstGeom prst="roundRect">
            <a:avLst>
              <a:gd name="adj" fmla="val 12000"/>
            </a:avLst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234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1600" b="1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9928" y="1298448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协查岗（对话调用）    客服（对客草稿）    质检 / 知识负责人（治理）</a:t>
            </a:r>
            <a:endParaRPr sz="14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3872484" y="2002536"/>
            <a:ext cx="201168" cy="146304"/>
          </a:xfrm>
          <a:prstGeom prst="down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" y="2157984"/>
            <a:ext cx="7360920" cy="822960"/>
          </a:xfrm>
          <a:prstGeom prst="roundRect">
            <a:avLst>
              <a:gd name="adj" fmla="val 12000"/>
            </a:avLst>
          </a:prstGeom>
          <a:solidFill>
            <a:srgbClr val="D3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1234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600" b="1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9928" y="2416112"/>
            <a:ext cx="576072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内网工作台  /  工单嵌入  /  统一接口</a:t>
            </a:r>
            <a:endParaRPr sz="14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872484" y="2990088"/>
            <a:ext cx="201168" cy="146304"/>
          </a:xfrm>
          <a:prstGeom prst="down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" y="3145536"/>
            <a:ext cx="7360920" cy="822960"/>
          </a:xfrm>
          <a:prstGeom prst="roundRect">
            <a:avLst>
              <a:gd name="adj" fmla="val 12000"/>
            </a:avLst>
          </a:prstGeom>
          <a:solidFill>
            <a:srgbClr val="A9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1234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sz="1600" b="1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09928" y="3273552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材料协查  |  进度应答  |  内部协查  |  条款问答  |  质检闭环</a:t>
            </a:r>
            <a:endParaRPr sz="14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3872484" y="3977640"/>
            <a:ext cx="201168" cy="146304"/>
          </a:xfrm>
          <a:prstGeom prst="down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" y="4133088"/>
            <a:ext cx="7360920" cy="822960"/>
          </a:xfrm>
          <a:prstGeom prst="roundRect">
            <a:avLst>
              <a:gd name="adj" fmla="val 12000"/>
            </a:avLst>
          </a:prstGeom>
          <a:solidFill>
            <a:srgbClr val="4E9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34256"/>
            <a:ext cx="1234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09928" y="4391216"/>
            <a:ext cx="576072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Harness</a:t>
            </a:r>
            <a:r>
              <a:rPr lang="zh-CN" altLang="en-US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运行时</a:t>
            </a:r>
            <a:r>
              <a:rPr lang="en-US" altLang="zh-CN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| MCP</a:t>
            </a:r>
            <a:r>
              <a:rPr lang="zh-CN" altLang="en-US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r>
              <a:rPr lang="en-US" altLang="zh-CN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altLang="en-US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r>
              <a:rPr lang="zh-CN" altLang="en-US"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lang="zh-CN" altLang="en-US"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3872484" y="4965192"/>
            <a:ext cx="201168" cy="146304"/>
          </a:xfrm>
          <a:prstGeom prst="down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735" y="5120640"/>
            <a:ext cx="7360920" cy="1069975"/>
          </a:xfrm>
          <a:prstGeom prst="roundRect">
            <a:avLst>
              <a:gd name="adj" fmla="val 12000"/>
            </a:avLst>
          </a:prstGeom>
          <a:solidFill>
            <a:srgbClr val="0E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21808"/>
            <a:ext cx="1234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09928" y="5271135"/>
            <a:ext cx="576072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通用大模型 + 条款作业领域知识 + 材料规则。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简单清单走规则，问法走模型，口径必须可引用。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18120" y="1225296"/>
            <a:ext cx="73152" cy="29260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3240" y="755777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E3A66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sz="1500" b="1">
              <a:solidFill>
                <a:srgbClr val="0E3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43240" y="1066673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材料协查 Agent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进度应答 Agent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内部协查 Agent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条款问答 Agent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质检抽检 Agent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818120" y="2468880"/>
            <a:ext cx="73152" cy="29260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3240" y="2196211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E3A66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sz="1500" b="1">
              <a:solidFill>
                <a:srgbClr val="0E3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43240" y="2434717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缺件核对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进度口径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协查上下文卡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强制引用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禁区拦截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818120" y="3712463"/>
            <a:ext cx="73152" cy="29260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3240" y="3576955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E3A66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500" b="1">
              <a:solidFill>
                <a:srgbClr val="0E3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43240" y="3887851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案件查询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影像索引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工单状态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权限校验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818120" y="4956048"/>
            <a:ext cx="73152" cy="29260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3240" y="4868164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E3A66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sz="1500" b="1">
              <a:solidFill>
                <a:srgbClr val="0E3A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43240" y="5179060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产品与条款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作业指导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材料规则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对客话术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E2A36"/>
                </a:solidFill>
                <a:latin typeface="微软雅黑" panose="020B0503020204020204" charset="-122"/>
                <a:ea typeface="微软雅黑" panose="020B0503020204020204" charset="-122"/>
              </a:rPr>
              <a:t>错引案例</a:t>
            </a:r>
            <a:endParaRPr sz="1300" b="0">
              <a:solidFill>
                <a:srgbClr val="1E2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6161</Words>
  <Application>WPS 演示</Application>
  <PresentationFormat>On-screen Show (4:3)</PresentationFormat>
  <Paragraphs>902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杨昀昊</cp:lastModifiedBy>
  <cp:revision>2</cp:revision>
  <dcterms:created xsi:type="dcterms:W3CDTF">2013-01-27T09:14:00Z</dcterms:created>
  <dcterms:modified xsi:type="dcterms:W3CDTF">2026-10-18T03:19:42Z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C0ED7206457D4B5DA272CD295431316F_12</vt:lpwstr>
  </property>
</Properties>
</file>