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2" userDrawn="1">
          <p15:clr>
            <a:srgbClr val="A4A3A4"/>
          </p15:clr>
        </p15:guide>
        <p15:guide id="2" pos="30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02"/>
        <p:guide pos="30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3" Type="http://schemas.openxmlformats.org/officeDocument/2006/relationships/notesSlide" Target="../notesSlides/notesSlide1.xml"/><Relationship Id="rId22" Type="http://schemas.openxmlformats.org/officeDocument/2006/relationships/slideLayout" Target="../slideLayouts/slideLayout7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tags" Target="../tags/tag2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5" Type="http://schemas.openxmlformats.org/officeDocument/2006/relationships/slideLayout" Target="../slideLayouts/slideLayout7.xml"/><Relationship Id="rId24" Type="http://schemas.openxmlformats.org/officeDocument/2006/relationships/tags" Target="../tags/tag5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tags" Target="../tags/tag29.xml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59.xml"/><Relationship Id="rId7" Type="http://schemas.openxmlformats.org/officeDocument/2006/relationships/tags" Target="../tags/tag58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2026 校园招聘 · </a:t>
            </a:r>
            <a:r>
              <a:rPr lang="zh-CN" sz="14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数字化</a:t>
            </a:r>
            <a:r>
              <a:rPr sz="14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太保之星 · 个人展示（主题一）</a:t>
            </a:r>
            <a:endParaRPr sz="1400" b="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137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理赔协查与客户应答智能体
探索与规划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从场景探索到作业闭环</a:t>
            </a:r>
            <a:endParaRPr sz="2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15600" cy="1551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6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杨昀昊  </a:t>
            </a:r>
            <a:endParaRPr sz="1600" b="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r"/>
            <a:r>
              <a:rPr lang="zh-CN" sz="16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中国农业大学</a:t>
            </a:r>
            <a:endParaRPr lang="zh-CN" sz="1600" b="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r"/>
            <a:r>
              <a:rPr lang="en-US" altLang="zh-CN" sz="16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16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数据科学与大数据技术</a:t>
            </a:r>
            <a:r>
              <a:rPr lang="zh-CN" altLang="en-US" sz="16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系</a:t>
            </a:r>
            <a:endParaRPr lang="zh-CN" altLang="en-US" sz="1600" b="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48000" y="631253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sz="160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2026.10</a:t>
            </a:r>
            <a:r>
              <a:rPr lang="en-US" sz="160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.20</a:t>
            </a:r>
            <a:endParaRPr lang="en-US" sz="160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目  录 ｜ 从场景探索到业务闭环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86868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EEF6FB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1"/>
            </p:custDataLst>
          </p:nvPr>
        </p:nvSpPr>
        <p:spPr>
          <a:xfrm>
            <a:off x="640080" y="10332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1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2194560" y="9418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必要性与紧迫性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3"/>
            </p:custDataLst>
          </p:nvPr>
        </p:nvSpPr>
        <p:spPr>
          <a:xfrm>
            <a:off x="2194560" y="121615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范式跃迁 · 三大痛点 · 与太保公开能力对接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7200" y="1618488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4"/>
            </p:custDataLst>
          </p:nvPr>
        </p:nvSpPr>
        <p:spPr>
          <a:xfrm>
            <a:off x="640080" y="1783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2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5"/>
            </p:custDataLst>
          </p:nvPr>
        </p:nvSpPr>
        <p:spPr>
          <a:xfrm>
            <a:off x="2194560" y="1691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基本框架与评价标准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6"/>
            </p:custDataLst>
          </p:nvPr>
        </p:nvSpPr>
        <p:spPr>
          <a:xfrm>
            <a:off x="2194560" y="1965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能力等级 L0–L5 · 四层架构 · 评测口径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2368296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EEF6FB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7"/>
            </p:custDataLst>
          </p:nvPr>
        </p:nvSpPr>
        <p:spPr>
          <a:xfrm>
            <a:off x="640080" y="25328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3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8"/>
            </p:custDataLst>
          </p:nvPr>
        </p:nvSpPr>
        <p:spPr>
          <a:xfrm>
            <a:off x="2194560" y="2441448"/>
            <a:ext cx="914400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业务探索场景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9"/>
            </p:custDataLst>
          </p:nvPr>
        </p:nvSpPr>
        <p:spPr>
          <a:xfrm>
            <a:off x="2194560" y="2715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补材 / 进度应答 / 协查取数 · 知识库目录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57200" y="3118104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>
            <p:custDataLst>
              <p:tags r:id="rId10"/>
            </p:custDataLst>
          </p:nvPr>
        </p:nvSpPr>
        <p:spPr>
          <a:xfrm>
            <a:off x="640080" y="32826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4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11"/>
            </p:custDataLst>
          </p:nvPr>
        </p:nvSpPr>
        <p:spPr>
          <a:xfrm>
            <a:off x="2194560" y="3191256"/>
            <a:ext cx="914400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按岗位职责重构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12"/>
            </p:custDataLst>
          </p:nvPr>
        </p:nvSpPr>
        <p:spPr>
          <a:xfrm>
            <a:off x="2194560" y="3465576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理赔 / 客服 / 质检 · 可行性分层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57200" y="3867912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EEF6FB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>
            <p:custDataLst>
              <p:tags r:id="rId13"/>
            </p:custDataLst>
          </p:nvPr>
        </p:nvSpPr>
        <p:spPr>
          <a:xfrm>
            <a:off x="640080" y="403250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5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>
            <p:custDataLst>
              <p:tags r:id="rId14"/>
            </p:custDataLst>
          </p:nvPr>
        </p:nvSpPr>
        <p:spPr>
          <a:xfrm>
            <a:off x="2194560" y="3941064"/>
            <a:ext cx="914400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风险与合规重塑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>
            <p:custDataLst>
              <p:tags r:id="rId15"/>
            </p:custDataLst>
          </p:nvPr>
        </p:nvSpPr>
        <p:spPr>
          <a:xfrm>
            <a:off x="2194560" y="421538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治理红线 · 不做自动核赔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57200" y="4617719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>
            <p:custDataLst>
              <p:tags r:id="rId16"/>
            </p:custDataLst>
          </p:nvPr>
        </p:nvSpPr>
        <p:spPr>
          <a:xfrm>
            <a:off x="640080" y="478231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6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>
            <p:custDataLst>
              <p:tags r:id="rId17"/>
            </p:custDataLst>
          </p:nvPr>
        </p:nvSpPr>
        <p:spPr>
          <a:xfrm>
            <a:off x="2194560" y="4690871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推进路线与成效指标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>
            <p:custDataLst>
              <p:tags r:id="rId18"/>
            </p:custDataLst>
          </p:nvPr>
        </p:nvSpPr>
        <p:spPr>
          <a:xfrm>
            <a:off x="2194560" y="4965191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试点节奏 · KPI · 验收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57200" y="5367528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EEF6FB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>
            <p:custDataLst>
              <p:tags r:id="rId19"/>
            </p:custDataLst>
          </p:nvPr>
        </p:nvSpPr>
        <p:spPr>
          <a:xfrm>
            <a:off x="640080" y="5532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PART 7</a:t>
            </a:r>
            <a:endParaRPr sz="14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>
            <p:custDataLst>
              <p:tags r:id="rId20"/>
            </p:custDataLst>
          </p:nvPr>
        </p:nvSpPr>
        <p:spPr>
          <a:xfrm>
            <a:off x="2194560" y="5440680"/>
            <a:ext cx="914400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资源需求</a:t>
            </a:r>
            <a:r>
              <a:rPr lang="zh-CN"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与协作</a:t>
            </a:r>
            <a:r>
              <a:rPr lang="zh-CN"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落地</a:t>
            </a:r>
            <a:endParaRPr lang="zh-CN"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>
            <p:custDataLst>
              <p:tags r:id="rId21"/>
            </p:custDataLst>
          </p:nvPr>
        </p:nvSpPr>
        <p:spPr>
          <a:xfrm>
            <a:off x="2194560" y="5715000"/>
            <a:ext cx="9144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组织协同 · 降调边界 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Rounded Rectangle 12"/>
          <p:cNvSpPr/>
          <p:nvPr/>
        </p:nvSpPr>
        <p:spPr>
          <a:xfrm>
            <a:off x="379095" y="1108075"/>
            <a:ext cx="1597025" cy="100711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1  必要性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75390" y="6583680"/>
            <a:ext cx="557530" cy="23749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75390" y="6583680"/>
            <a:ext cx="55753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9935" y="724535"/>
            <a:ext cx="1887220" cy="2603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信息化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9720" y="1546225"/>
            <a:ext cx="1447800" cy="520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核心系统
电子工单</a:t>
            </a:r>
            <a:endParaRPr sz="1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041650" y="1083310"/>
            <a:ext cx="1597025" cy="1007110"/>
          </a:xfrm>
          <a:prstGeom prst="roundRect">
            <a:avLst>
              <a:gd name="adj" fmla="val 5000"/>
            </a:avLst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4630" y="1174750"/>
            <a:ext cx="1887220" cy="2603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数字化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62275" y="1521460"/>
            <a:ext cx="1447800" cy="520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数据中台
进度可视</a:t>
            </a:r>
            <a:endParaRPr sz="1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56810" y="1471295"/>
            <a:ext cx="723900" cy="4806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18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579745" y="1083310"/>
            <a:ext cx="1597025" cy="1007110"/>
          </a:xfrm>
          <a:prstGeom prst="roundRect">
            <a:avLst>
              <a:gd name="adj" fmla="val 5000"/>
            </a:avLst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2575" y="1164590"/>
            <a:ext cx="1887220" cy="2603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endParaRPr sz="1600" b="1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593715" y="1510030"/>
            <a:ext cx="1447800" cy="520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zh-CN" altLang="en-US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lang="en-US" altLang="zh-CN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学习</a:t>
            </a:r>
            <a:endParaRPr lang="zh-CN" altLang="en-US" sz="1200" b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决策</a:t>
            </a:r>
            <a:r>
              <a:rPr lang="en-US" altLang="zh-CN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200" b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endParaRPr lang="zh-CN" altLang="en-US" sz="1200" b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右箭头 29"/>
          <p:cNvSpPr/>
          <p:nvPr/>
        </p:nvSpPr>
        <p:spPr>
          <a:xfrm>
            <a:off x="2250440" y="1174750"/>
            <a:ext cx="537210" cy="77724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31" name="右箭头 30"/>
          <p:cNvSpPr/>
          <p:nvPr/>
        </p:nvSpPr>
        <p:spPr>
          <a:xfrm>
            <a:off x="4892675" y="1216660"/>
            <a:ext cx="537210" cy="77724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33" name="Rounded Rectangle 11"/>
          <p:cNvSpPr/>
          <p:nvPr/>
        </p:nvSpPr>
        <p:spPr>
          <a:xfrm>
            <a:off x="318135" y="2718435"/>
            <a:ext cx="4638675" cy="31642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13"/>
          <p:cNvSpPr txBox="1"/>
          <p:nvPr>
            <p:custDataLst>
              <p:tags r:id="rId1"/>
            </p:custDataLst>
          </p:nvPr>
        </p:nvSpPr>
        <p:spPr>
          <a:xfrm>
            <a:off x="633730" y="2809875"/>
            <a:ext cx="88392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痛点 1</a:t>
            </a:r>
            <a:endParaRPr sz="16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14"/>
          <p:cNvSpPr txBox="1"/>
          <p:nvPr>
            <p:custDataLst>
              <p:tags r:id="rId2"/>
            </p:custDataLst>
          </p:nvPr>
        </p:nvSpPr>
        <p:spPr>
          <a:xfrm>
            <a:off x="1765300" y="2821305"/>
            <a:ext cx="2506345" cy="3162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协查依赖人肉跳系统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15"/>
          <p:cNvSpPr txBox="1"/>
          <p:nvPr>
            <p:custDataLst>
              <p:tags r:id="rId3"/>
            </p:custDataLst>
          </p:nvPr>
        </p:nvSpPr>
        <p:spPr>
          <a:xfrm>
            <a:off x="459740" y="3175635"/>
            <a:ext cx="4262755" cy="62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</a:t>
            </a:r>
            <a:r>
              <a:rPr sz="16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现状</a:t>
            </a: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：影像/工单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分布各个系统，查找难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3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</a:t>
            </a:r>
            <a:r>
              <a:rPr sz="16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目标</a:t>
            </a: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自动</a:t>
            </a: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取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相关表单信息，减少重复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劳动</a:t>
            </a:r>
            <a:endParaRPr lang="zh-CN"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ounded Rectangle 16"/>
          <p:cNvSpPr/>
          <p:nvPr/>
        </p:nvSpPr>
        <p:spPr>
          <a:xfrm>
            <a:off x="5116830" y="2713990"/>
            <a:ext cx="4960620" cy="31680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>
            <p:custDataLst>
              <p:tags r:id="rId4"/>
            </p:custDataLst>
          </p:nvPr>
        </p:nvSpPr>
        <p:spPr>
          <a:xfrm>
            <a:off x="5432425" y="2805430"/>
            <a:ext cx="88392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C"/>
                </a:solidFill>
                <a:latin typeface="微软雅黑" panose="020B0503020204020204" charset="-122"/>
                <a:ea typeface="微软雅黑" panose="020B0503020204020204" charset="-122"/>
              </a:rPr>
              <a:t>痛点 2</a:t>
            </a:r>
            <a:endParaRPr sz="1600" b="1">
              <a:solidFill>
                <a:srgbClr val="0072B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19"/>
          <p:cNvSpPr txBox="1"/>
          <p:nvPr>
            <p:custDataLst>
              <p:tags r:id="rId5"/>
            </p:custDataLst>
          </p:nvPr>
        </p:nvSpPr>
        <p:spPr>
          <a:xfrm>
            <a:off x="6536055" y="2797810"/>
            <a:ext cx="2985770" cy="337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经验留在个人/文档</a:t>
            </a:r>
            <a:endParaRPr sz="15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20"/>
          <p:cNvSpPr txBox="1"/>
          <p:nvPr>
            <p:custDataLst>
              <p:tags r:id="rId6"/>
            </p:custDataLst>
          </p:nvPr>
        </p:nvSpPr>
        <p:spPr>
          <a:xfrm>
            <a:off x="5258435" y="3171190"/>
            <a:ext cx="4780915" cy="27171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</a:t>
            </a:r>
            <a:r>
              <a:rPr sz="16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现状</a:t>
            </a: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：条款、作业指导口径散落；新人难上手。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3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</a:t>
            </a:r>
            <a:r>
              <a:rPr lang="zh-CN" sz="16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目标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经验沉淀为</a:t>
            </a:r>
            <a:r>
              <a:rPr lang="en-US" alt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知识库，新人为理赔</a:t>
            </a:r>
            <a:r>
              <a:rPr lang="zh-CN" altLang="en-US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专家</a:t>
            </a:r>
            <a:endParaRPr lang="zh-CN" altLang="en-US"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379095" y="63754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理赔服务作业正在经历范式跃迁</a:t>
            </a:r>
            <a:endParaRPr lang="zh-CN" altLang="en-US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397510" y="231584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两个核心痛点</a:t>
            </a:r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-&gt;AI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重塑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</a:t>
            </a:r>
            <a:endParaRPr lang="zh-CN" altLang="en-US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8" name="TextBox 17"/>
          <p:cNvSpPr txBox="1"/>
          <p:nvPr/>
        </p:nvSpPr>
        <p:spPr>
          <a:xfrm>
            <a:off x="60960" y="1174750"/>
            <a:ext cx="1887220" cy="2603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zh-CN"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信息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化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0" name="Connector 28"/>
          <p:cNvCxnSpPr/>
          <p:nvPr/>
        </p:nvCxnSpPr>
        <p:spPr>
          <a:xfrm flipH="1" flipV="1">
            <a:off x="1646555" y="4074795"/>
            <a:ext cx="1051560" cy="777240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29"/>
          <p:cNvCxnSpPr/>
          <p:nvPr/>
        </p:nvCxnSpPr>
        <p:spPr>
          <a:xfrm flipV="1">
            <a:off x="2698115" y="4074795"/>
            <a:ext cx="1051560" cy="777240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30"/>
          <p:cNvCxnSpPr/>
          <p:nvPr/>
        </p:nvCxnSpPr>
        <p:spPr>
          <a:xfrm flipH="1">
            <a:off x="1646555" y="4852035"/>
            <a:ext cx="1051560" cy="658368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31"/>
          <p:cNvCxnSpPr/>
          <p:nvPr/>
        </p:nvCxnSpPr>
        <p:spPr>
          <a:xfrm>
            <a:off x="2698115" y="4852035"/>
            <a:ext cx="1051560" cy="658368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32"/>
          <p:cNvSpPr/>
          <p:nvPr/>
        </p:nvSpPr>
        <p:spPr>
          <a:xfrm>
            <a:off x="1207643" y="3873627"/>
            <a:ext cx="877824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影像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Rounded Rectangle 33"/>
          <p:cNvSpPr/>
          <p:nvPr/>
        </p:nvSpPr>
        <p:spPr>
          <a:xfrm>
            <a:off x="3310763" y="3873627"/>
            <a:ext cx="877824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位置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Rounded Rectangle 34"/>
          <p:cNvSpPr/>
          <p:nvPr/>
        </p:nvSpPr>
        <p:spPr>
          <a:xfrm>
            <a:off x="1035050" y="5309235"/>
            <a:ext cx="1050290" cy="36703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客户</a:t>
            </a: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信息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Rounded Rectangle 35"/>
          <p:cNvSpPr/>
          <p:nvPr/>
        </p:nvSpPr>
        <p:spPr>
          <a:xfrm>
            <a:off x="3310763" y="5309235"/>
            <a:ext cx="877824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保费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Rounded Rectangle 36"/>
          <p:cNvSpPr/>
          <p:nvPr/>
        </p:nvSpPr>
        <p:spPr>
          <a:xfrm>
            <a:off x="2167763" y="4614291"/>
            <a:ext cx="1060704" cy="475488"/>
          </a:xfrm>
          <a:prstGeom prst="roundRect">
            <a:avLst>
              <a:gd name="adj" fmla="val 12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自动拉取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案件事实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9" name="Connector 28"/>
          <p:cNvCxnSpPr/>
          <p:nvPr/>
        </p:nvCxnSpPr>
        <p:spPr>
          <a:xfrm flipH="1" flipV="1">
            <a:off x="6539865" y="4075430"/>
            <a:ext cx="1051560" cy="777240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29"/>
          <p:cNvCxnSpPr/>
          <p:nvPr/>
        </p:nvCxnSpPr>
        <p:spPr>
          <a:xfrm flipV="1">
            <a:off x="7591425" y="4075430"/>
            <a:ext cx="1051560" cy="777240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30"/>
          <p:cNvCxnSpPr/>
          <p:nvPr/>
        </p:nvCxnSpPr>
        <p:spPr>
          <a:xfrm flipH="1">
            <a:off x="6539865" y="4852670"/>
            <a:ext cx="1051560" cy="658368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31"/>
          <p:cNvCxnSpPr/>
          <p:nvPr/>
        </p:nvCxnSpPr>
        <p:spPr>
          <a:xfrm>
            <a:off x="7591425" y="4852670"/>
            <a:ext cx="1051560" cy="658368"/>
          </a:xfrm>
          <a:prstGeom prst="line">
            <a:avLst/>
          </a:prstGeom>
          <a:ln w="19050">
            <a:solidFill>
              <a:srgbClr val="4AA3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32"/>
          <p:cNvSpPr/>
          <p:nvPr/>
        </p:nvSpPr>
        <p:spPr>
          <a:xfrm>
            <a:off x="6100953" y="3874262"/>
            <a:ext cx="877824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altLang="en-US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作业</a:t>
            </a:r>
            <a:r>
              <a:rPr lang="en-US" alt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sop</a:t>
            </a:r>
            <a:endParaRPr lang="en-US" alt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Rounded Rectangle 33"/>
          <p:cNvSpPr/>
          <p:nvPr/>
        </p:nvSpPr>
        <p:spPr>
          <a:xfrm>
            <a:off x="8204073" y="3874262"/>
            <a:ext cx="877824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条款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Rounded Rectangle 34"/>
          <p:cNvSpPr/>
          <p:nvPr/>
        </p:nvSpPr>
        <p:spPr>
          <a:xfrm>
            <a:off x="5928360" y="5309870"/>
            <a:ext cx="1050290" cy="36703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行业</a:t>
            </a: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知识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Rounded Rectangle 35"/>
          <p:cNvSpPr/>
          <p:nvPr/>
        </p:nvSpPr>
        <p:spPr>
          <a:xfrm>
            <a:off x="8204200" y="5309870"/>
            <a:ext cx="1070610" cy="40513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分析</a:t>
            </a:r>
            <a:r>
              <a:rPr lang="zh-CN" sz="12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方法论</a:t>
            </a:r>
            <a:endParaRPr lang="zh-CN" sz="12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Rounded Rectangle 36"/>
          <p:cNvSpPr/>
          <p:nvPr/>
        </p:nvSpPr>
        <p:spPr>
          <a:xfrm>
            <a:off x="7061073" y="4614926"/>
            <a:ext cx="1060704" cy="475488"/>
          </a:xfrm>
          <a:prstGeom prst="roundRect">
            <a:avLst>
              <a:gd name="adj" fmla="val 12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ctr">
              <a:spcAft>
                <a:spcPts val="100"/>
              </a:spcAft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岗位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97510" y="5975350"/>
            <a:ext cx="9963150" cy="419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rgbClr val="5A6A78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重复劳动密集 + 规则文档密集</a:t>
            </a:r>
            <a:r>
              <a:rPr lang="zh-CN">
                <a:solidFill>
                  <a:srgbClr val="5A6A78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</a:t>
            </a:r>
            <a:r>
              <a:rPr lang="zh-CN" altLang="en-US">
                <a:solidFill>
                  <a:srgbClr val="5A6A78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适合训练智能体进行</a:t>
            </a:r>
            <a:r>
              <a:rPr lang="zh-CN" altLang="en-US">
                <a:solidFill>
                  <a:srgbClr val="5A6A78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辅助提效</a:t>
            </a:r>
            <a:endParaRPr lang="zh-CN" altLang="en-US">
              <a:solidFill>
                <a:srgbClr val="5A6A78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1  </a:t>
            </a:r>
            <a:r>
              <a:rPr lang="zh-CN"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紧迫性</a:t>
            </a:r>
            <a:endParaRPr lang="zh-CN"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12"/>
          <p:cNvSpPr/>
          <p:nvPr/>
        </p:nvSpPr>
        <p:spPr>
          <a:xfrm>
            <a:off x="274320" y="1710690"/>
            <a:ext cx="7360920" cy="459867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13"/>
          <p:cNvSpPr/>
          <p:nvPr/>
        </p:nvSpPr>
        <p:spPr>
          <a:xfrm>
            <a:off x="292735" y="1367155"/>
            <a:ext cx="7360920" cy="408305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14"/>
          <p:cNvSpPr txBox="1"/>
          <p:nvPr/>
        </p:nvSpPr>
        <p:spPr>
          <a:xfrm>
            <a:off x="438912" y="1403858"/>
            <a:ext cx="70408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社科院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行业报告：</a:t>
            </a:r>
            <a:r>
              <a:rPr 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辅助理赔</a:t>
            </a:r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提效</a:t>
            </a:r>
            <a:endParaRPr lang="zh-CN" altLang="en-US"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18"/>
          <p:cNvSpPr txBox="1"/>
          <p:nvPr/>
        </p:nvSpPr>
        <p:spPr>
          <a:xfrm>
            <a:off x="420497" y="5253482"/>
            <a:ext cx="7059168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报告</a:t>
            </a: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写明：约 20% 简单案件给出赔付结论辅助，审核人员处理复杂案件；不同险种审核效率大约提升 30%–70%。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19"/>
          <p:cNvSpPr txBox="1"/>
          <p:nvPr/>
        </p:nvSpPr>
        <p:spPr>
          <a:xfrm>
            <a:off x="420497" y="5852160"/>
            <a:ext cx="7059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中国社会科学院金融研究所课题组《中国互联网保险理赔服务创新报告》，2023年5月，文中案例为蚂蚁保「安心赔」。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20"/>
          <p:cNvSpPr/>
          <p:nvPr/>
        </p:nvSpPr>
        <p:spPr>
          <a:xfrm>
            <a:off x="7790688" y="3182112"/>
            <a:ext cx="4096512" cy="31272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21"/>
          <p:cNvSpPr/>
          <p:nvPr/>
        </p:nvSpPr>
        <p:spPr>
          <a:xfrm>
            <a:off x="7790688" y="3182112"/>
            <a:ext cx="4096512" cy="329184"/>
          </a:xfrm>
          <a:prstGeom prst="rect">
            <a:avLst/>
          </a:prstGeom>
          <a:solidFill>
            <a:srgbClr val="005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22"/>
          <p:cNvSpPr txBox="1"/>
          <p:nvPr/>
        </p:nvSpPr>
        <p:spPr>
          <a:xfrm>
            <a:off x="7918704" y="3218688"/>
            <a:ext cx="38404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监管：</a:t>
            </a:r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理赔指导时效要求</a:t>
            </a:r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高</a:t>
            </a:r>
            <a:endParaRPr lang="zh-CN"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23"/>
          <p:cNvSpPr txBox="1"/>
          <p:nvPr/>
        </p:nvSpPr>
        <p:spPr>
          <a:xfrm>
            <a:off x="7936992" y="3566160"/>
            <a:ext cx="38039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558F"/>
                </a:solidFill>
                <a:latin typeface="微软雅黑" panose="020B0503020204020204" charset="-122"/>
                <a:ea typeface="微软雅黑" panose="020B0503020204020204" charset="-122"/>
              </a:rPr>
              <a:t>资料不完整的，2 个工作日内一次性通知补充。</a:t>
            </a:r>
            <a:endParaRPr sz="1400" b="1">
              <a:solidFill>
                <a:srgbClr val="0055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3" name="Picture 24" descr="ev_o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0510" y="3904615"/>
            <a:ext cx="3996690" cy="1873885"/>
          </a:xfrm>
          <a:prstGeom prst="rect">
            <a:avLst/>
          </a:prstGeom>
        </p:spPr>
      </p:pic>
      <p:sp>
        <p:nvSpPr>
          <p:cNvPr id="44" name="TextBox 25"/>
          <p:cNvSpPr txBox="1"/>
          <p:nvPr/>
        </p:nvSpPr>
        <p:spPr>
          <a:xfrm>
            <a:off x="7936992" y="5888736"/>
            <a:ext cx="3803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中国银保监会《关于进一步规范保险机构互联网人身保险业务有关事项的通知》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ounded Rectangle 11"/>
          <p:cNvSpPr/>
          <p:nvPr/>
        </p:nvSpPr>
        <p:spPr>
          <a:xfrm>
            <a:off x="7783195" y="818515"/>
            <a:ext cx="4149725" cy="2221865"/>
          </a:xfrm>
          <a:prstGeom prst="roundRect">
            <a:avLst>
              <a:gd name="adj" fmla="val 4000"/>
            </a:avLst>
          </a:prstGeom>
          <a:solidFill>
            <a:srgbClr val="EEF6FB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12" descr="wp_title.png"/>
          <p:cNvPicPr>
            <a:picLocks noChangeAspect="1"/>
          </p:cNvPicPr>
          <p:nvPr/>
        </p:nvPicPr>
        <p:blipFill>
          <a:blip r:embed="rId2"/>
          <a:srcRect t="48655" r="15196" b="12910"/>
          <a:stretch>
            <a:fillRect/>
          </a:stretch>
        </p:blipFill>
        <p:spPr>
          <a:xfrm>
            <a:off x="8127365" y="2190115"/>
            <a:ext cx="2207895" cy="499110"/>
          </a:xfrm>
          <a:prstGeom prst="rect">
            <a:avLst/>
          </a:prstGeom>
        </p:spPr>
      </p:pic>
      <p:sp>
        <p:nvSpPr>
          <p:cNvPr id="53" name="TextBox 13"/>
          <p:cNvSpPr txBox="1"/>
          <p:nvPr/>
        </p:nvSpPr>
        <p:spPr>
          <a:xfrm>
            <a:off x="8127365" y="2707640"/>
            <a:ext cx="3805555" cy="321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众安科技《AIGC/ChatGPT保险行业应用白皮书》</a:t>
            </a:r>
            <a:endParaRPr sz="110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14"/>
          <p:cNvSpPr txBox="1"/>
          <p:nvPr/>
        </p:nvSpPr>
        <p:spPr>
          <a:xfrm>
            <a:off x="7936865" y="1280160"/>
            <a:ext cx="372491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行业首发的这份白皮书，把生成式能力放进保险全链路，</a:t>
            </a:r>
            <a:r>
              <a:rPr sz="13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理赔申请和审核列在可辅助的环节里</a:t>
            </a: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
赔不赔、赔多少仍要单独设防。所以先做的是协查：找材料、写草稿、留给人确认。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21"/>
          <p:cNvSpPr/>
          <p:nvPr/>
        </p:nvSpPr>
        <p:spPr>
          <a:xfrm>
            <a:off x="7809103" y="826897"/>
            <a:ext cx="4096512" cy="329184"/>
          </a:xfrm>
          <a:prstGeom prst="rect">
            <a:avLst/>
          </a:prstGeom>
          <a:solidFill>
            <a:srgbClr val="005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22"/>
          <p:cNvSpPr txBox="1"/>
          <p:nvPr/>
        </p:nvSpPr>
        <p:spPr>
          <a:xfrm>
            <a:off x="7937119" y="863473"/>
            <a:ext cx="38404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保司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理赔申请和审核是</a:t>
            </a:r>
            <a:r>
              <a:rPr lang="en-US" alt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辅助重点</a:t>
            </a:r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环节</a:t>
            </a:r>
            <a:endParaRPr lang="zh-CN" altLang="en-US"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274320" y="659765"/>
            <a:ext cx="734250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行业权威机构已经表明，</a:t>
            </a:r>
            <a:endParaRPr lang="zh-CN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ctr"/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AI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重构理赔业务已经不是</a:t>
            </a:r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“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是否可行</a:t>
            </a:r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”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，而是</a:t>
            </a:r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“</a:t>
            </a:r>
            <a:r>
              <a:rPr lang="zh-CN" altLang="en-US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如何实现</a:t>
            </a:r>
            <a:r>
              <a:rPr lang="en-US" altLang="zh-CN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”</a:t>
            </a:r>
            <a:endParaRPr lang="en-US" altLang="zh-CN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85" y="1860550"/>
            <a:ext cx="6943725" cy="34118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2  框架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" y="777240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参考：Levels of AI Agents（公开论文思路）· 本方案一期锚定 L2，严控进入 L3+ 的自动决策区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"/>
            </p:custDataLst>
          </p:nvPr>
        </p:nvSpPr>
        <p:spPr>
          <a:xfrm>
            <a:off x="320040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32004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L0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3"/>
            </p:custDataLst>
          </p:nvPr>
        </p:nvSpPr>
        <p:spPr>
          <a:xfrm>
            <a:off x="32004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无智能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4"/>
            </p:custDataLst>
          </p:nvPr>
        </p:nvSpPr>
        <p:spPr>
          <a:xfrm>
            <a:off x="393192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纯人工查系统写回复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5"/>
            </p:custDataLst>
          </p:nvPr>
        </p:nvSpPr>
        <p:spPr>
          <a:xfrm>
            <a:off x="2286000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18" name="TextBox 17"/>
          <p:cNvSpPr txBox="1"/>
          <p:nvPr>
            <p:custDataLst>
              <p:tags r:id="rId6"/>
            </p:custDataLst>
          </p:nvPr>
        </p:nvSpPr>
        <p:spPr>
          <a:xfrm>
            <a:off x="228600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L1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7"/>
            </p:custDataLst>
          </p:nvPr>
        </p:nvSpPr>
        <p:spPr>
          <a:xfrm>
            <a:off x="228600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规则智能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8"/>
            </p:custDataLst>
          </p:nvPr>
        </p:nvSpPr>
        <p:spPr>
          <a:xfrm>
            <a:off x="2359152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模板话术/固定清单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9"/>
            </p:custDataLst>
          </p:nvPr>
        </p:nvSpPr>
        <p:spPr>
          <a:xfrm>
            <a:off x="4251960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0"/>
            </p:custDataLst>
          </p:nvPr>
        </p:nvSpPr>
        <p:spPr>
          <a:xfrm>
            <a:off x="425196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L2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1"/>
            </p:custDataLst>
          </p:nvPr>
        </p:nvSpPr>
        <p:spPr>
          <a:xfrm>
            <a:off x="425196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检索推理
+人审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>
            <p:custDataLst>
              <p:tags r:id="rId12"/>
            </p:custDataLst>
          </p:nvPr>
        </p:nvSpPr>
        <p:spPr>
          <a:xfrm>
            <a:off x="4325112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RAG草稿+字段卡
+终审外发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>
            <p:custDataLst>
              <p:tags r:id="rId13"/>
            </p:custDataLst>
          </p:nvPr>
        </p:nvSpPr>
        <p:spPr>
          <a:xfrm>
            <a:off x="6217919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26" name="TextBox 25"/>
          <p:cNvSpPr txBox="1"/>
          <p:nvPr>
            <p:custDataLst>
              <p:tags r:id="rId14"/>
            </p:custDataLst>
          </p:nvPr>
        </p:nvSpPr>
        <p:spPr>
          <a:xfrm>
            <a:off x="6217919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L3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15"/>
            </p:custDataLst>
          </p:nvPr>
        </p:nvSpPr>
        <p:spPr>
          <a:xfrm>
            <a:off x="6217919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记忆反思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>
            <p:custDataLst>
              <p:tags r:id="rId16"/>
            </p:custDataLst>
          </p:nvPr>
        </p:nvSpPr>
        <p:spPr>
          <a:xfrm>
            <a:off x="6291071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bad case复盘
自动改知识/提示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>
            <p:custDataLst>
              <p:tags r:id="rId17"/>
            </p:custDataLst>
          </p:nvPr>
        </p:nvSpPr>
        <p:spPr>
          <a:xfrm>
            <a:off x="8183880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30" name="TextBox 29"/>
          <p:cNvSpPr txBox="1"/>
          <p:nvPr>
            <p:custDataLst>
              <p:tags r:id="rId18"/>
            </p:custDataLst>
          </p:nvPr>
        </p:nvSpPr>
        <p:spPr>
          <a:xfrm>
            <a:off x="818388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L4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>
            <p:custDataLst>
              <p:tags r:id="rId19"/>
            </p:custDataLst>
          </p:nvPr>
        </p:nvSpPr>
        <p:spPr>
          <a:xfrm>
            <a:off x="818388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自主学习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>
            <p:custDataLst>
              <p:tags r:id="rId20"/>
            </p:custDataLst>
          </p:nvPr>
        </p:nvSpPr>
        <p:spPr>
          <a:xfrm>
            <a:off x="8257032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策略自优化
少人干预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>
            <p:custDataLst>
              <p:tags r:id="rId21"/>
            </p:custDataLst>
          </p:nvPr>
        </p:nvSpPr>
        <p:spPr>
          <a:xfrm>
            <a:off x="10149840" y="1188720"/>
            <a:ext cx="1828800" cy="237744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34" name="TextBox 33"/>
          <p:cNvSpPr txBox="1"/>
          <p:nvPr>
            <p:custDataLst>
              <p:tags r:id="rId22"/>
            </p:custDataLst>
          </p:nvPr>
        </p:nvSpPr>
        <p:spPr>
          <a:xfrm>
            <a:off x="1014984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L5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>
            <p:custDataLst>
              <p:tags r:id="rId23"/>
            </p:custDataLst>
          </p:nvPr>
        </p:nvSpPr>
        <p:spPr>
          <a:xfrm>
            <a:off x="1014984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群体智能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>
            <p:custDataLst>
              <p:tags r:id="rId24"/>
            </p:custDataLst>
          </p:nvPr>
        </p:nvSpPr>
        <p:spPr>
          <a:xfrm>
            <a:off x="10222992" y="219456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多Agent自治
跨条线协同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20040" y="3840480"/>
            <a:ext cx="11521440" cy="2377440"/>
          </a:xfrm>
          <a:prstGeom prst="rect">
            <a:avLst/>
          </a:prstGeom>
          <a:solidFill>
            <a:srgbClr val="EE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977639"/>
            <a:ext cx="10972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本方案一期= L2「检索推理 + 人审」</a:t>
            </a:r>
            <a:endParaRPr sz="14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502920" y="4389120"/>
          <a:ext cx="11155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评价维度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准入标准（一期）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否决项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引用可追溯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对外/对内草稿均带知识片段或字段来源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无引用的结论性表述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人审覆盖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外发前 100% 人工确认（可配置抽检加强）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无人审自动外发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权限最小化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字段白名单 + 岗位授权 + 审计日志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越权取数 / 全库漫游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业务指标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响应时长、一次补全率、人审通过率、错引率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仅用「模型准确率」代替业务验收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2  框架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3880" y="609219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"/>
          <p:cNvSpPr txBox="1"/>
          <p:nvPr/>
        </p:nvSpPr>
        <p:spPr>
          <a:xfrm>
            <a:off x="618617" y="737235"/>
            <a:ext cx="10058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协查应答智能体整体架构</a:t>
            </a:r>
            <a:endParaRPr sz="2600" b="1">
              <a:solidFill>
                <a:srgbClr val="0E3A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"/>
          <p:cNvSpPr txBox="1"/>
          <p:nvPr/>
        </p:nvSpPr>
        <p:spPr>
          <a:xfrm>
            <a:off x="618617" y="1157859"/>
            <a:ext cx="11338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微软雅黑" panose="020B0503020204020204" charset="-122"/>
                <a:ea typeface="微软雅黑" panose="020B0503020204020204" charset="-122"/>
              </a:rPr>
              <a:t>按协查应答作业链搭一组智能体。材料、进度、内部协查、条款问答、质检，同一套平台和知识库。</a:t>
            </a:r>
            <a:endParaRPr sz="1300" b="0">
              <a:solidFill>
                <a:srgbClr val="5C6B7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4"/>
          <p:cNvSpPr/>
          <p:nvPr/>
        </p:nvSpPr>
        <p:spPr>
          <a:xfrm>
            <a:off x="563753" y="1541907"/>
            <a:ext cx="7360920" cy="822960"/>
          </a:xfrm>
          <a:prstGeom prst="roundRect">
            <a:avLst>
              <a:gd name="adj" fmla="val 12000"/>
            </a:avLst>
          </a:prstGeom>
          <a:solidFill>
            <a:srgbClr val="E7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5"/>
          <p:cNvSpPr txBox="1"/>
          <p:nvPr/>
        </p:nvSpPr>
        <p:spPr>
          <a:xfrm>
            <a:off x="728345" y="1743075"/>
            <a:ext cx="12344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用户层</a:t>
            </a:r>
            <a:endParaRPr sz="1600" b="1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6"/>
          <p:cNvSpPr txBox="1"/>
          <p:nvPr/>
        </p:nvSpPr>
        <p:spPr>
          <a:xfrm>
            <a:off x="1981073" y="1669923"/>
            <a:ext cx="5760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协查岗（对话调用）    客服（对客草稿）    质检 / 知识负责人（治理）</a:t>
            </a:r>
            <a:endParaRPr sz="14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Down Arrow 7"/>
          <p:cNvSpPr/>
          <p:nvPr/>
        </p:nvSpPr>
        <p:spPr>
          <a:xfrm>
            <a:off x="4143629" y="2374011"/>
            <a:ext cx="201168" cy="146304"/>
          </a:xfrm>
          <a:prstGeom prst="downArrow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8"/>
          <p:cNvSpPr/>
          <p:nvPr/>
        </p:nvSpPr>
        <p:spPr>
          <a:xfrm>
            <a:off x="563753" y="2529459"/>
            <a:ext cx="7360920" cy="822960"/>
          </a:xfrm>
          <a:prstGeom prst="roundRect">
            <a:avLst>
              <a:gd name="adj" fmla="val 12000"/>
            </a:avLst>
          </a:prstGeom>
          <a:solidFill>
            <a:srgbClr val="D3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9"/>
          <p:cNvSpPr txBox="1"/>
          <p:nvPr/>
        </p:nvSpPr>
        <p:spPr>
          <a:xfrm>
            <a:off x="728345" y="2730627"/>
            <a:ext cx="12344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接入层</a:t>
            </a:r>
            <a:endParaRPr sz="1600" b="1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10"/>
          <p:cNvSpPr txBox="1"/>
          <p:nvPr/>
        </p:nvSpPr>
        <p:spPr>
          <a:xfrm>
            <a:off x="1981073" y="2787587"/>
            <a:ext cx="5760720" cy="3067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内网工作台  /  </a:t>
            </a:r>
            <a:r>
              <a:rPr lang="zh-CN"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数据中台大屏</a:t>
            </a:r>
            <a:r>
              <a:rPr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  /  </a:t>
            </a:r>
            <a:r>
              <a:rPr lang="zh-CN"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理赔子系统</a:t>
            </a:r>
            <a:endParaRPr lang="zh-CN" sz="14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Down Arrow 11"/>
          <p:cNvSpPr/>
          <p:nvPr/>
        </p:nvSpPr>
        <p:spPr>
          <a:xfrm>
            <a:off x="4143629" y="3361563"/>
            <a:ext cx="201168" cy="146304"/>
          </a:xfrm>
          <a:prstGeom prst="downArrow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12"/>
          <p:cNvSpPr/>
          <p:nvPr/>
        </p:nvSpPr>
        <p:spPr>
          <a:xfrm>
            <a:off x="563753" y="3517011"/>
            <a:ext cx="7360920" cy="822960"/>
          </a:xfrm>
          <a:prstGeom prst="roundRect">
            <a:avLst>
              <a:gd name="adj" fmla="val 12000"/>
            </a:avLst>
          </a:prstGeom>
          <a:solidFill>
            <a:srgbClr val="A9D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13"/>
          <p:cNvSpPr txBox="1"/>
          <p:nvPr/>
        </p:nvSpPr>
        <p:spPr>
          <a:xfrm>
            <a:off x="728345" y="3718179"/>
            <a:ext cx="12344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应用层</a:t>
            </a:r>
            <a:endParaRPr sz="1600" b="1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14"/>
          <p:cNvSpPr txBox="1"/>
          <p:nvPr/>
        </p:nvSpPr>
        <p:spPr>
          <a:xfrm>
            <a:off x="1981073" y="3645027"/>
            <a:ext cx="5760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材料协查  |  进度应答  |  内部协查  |  条款问答  |  质检闭环</a:t>
            </a:r>
            <a:endParaRPr sz="14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Down Arrow 15"/>
          <p:cNvSpPr/>
          <p:nvPr/>
        </p:nvSpPr>
        <p:spPr>
          <a:xfrm>
            <a:off x="4143629" y="4349115"/>
            <a:ext cx="201168" cy="146304"/>
          </a:xfrm>
          <a:prstGeom prst="downArrow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16"/>
          <p:cNvSpPr/>
          <p:nvPr/>
        </p:nvSpPr>
        <p:spPr>
          <a:xfrm>
            <a:off x="563753" y="4504563"/>
            <a:ext cx="7360920" cy="822960"/>
          </a:xfrm>
          <a:prstGeom prst="roundRect">
            <a:avLst>
              <a:gd name="adj" fmla="val 12000"/>
            </a:avLst>
          </a:prstGeom>
          <a:solidFill>
            <a:srgbClr val="4E9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7"/>
          <p:cNvSpPr txBox="1"/>
          <p:nvPr/>
        </p:nvSpPr>
        <p:spPr>
          <a:xfrm>
            <a:off x="728345" y="4705731"/>
            <a:ext cx="12344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平台层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18"/>
          <p:cNvSpPr txBox="1"/>
          <p:nvPr/>
        </p:nvSpPr>
        <p:spPr>
          <a:xfrm>
            <a:off x="1981073" y="4762691"/>
            <a:ext cx="5760720" cy="3067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Harness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运行时</a:t>
            </a:r>
            <a:r>
              <a:rPr lang="en-US" altLang="zh-CN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| MCP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  <a:r>
              <a:rPr lang="en-US" altLang="zh-CN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| 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权限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网关</a:t>
            </a:r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Down Arrow 19"/>
          <p:cNvSpPr/>
          <p:nvPr/>
        </p:nvSpPr>
        <p:spPr>
          <a:xfrm>
            <a:off x="4143629" y="5336667"/>
            <a:ext cx="201168" cy="146304"/>
          </a:xfrm>
          <a:prstGeom prst="downArrow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20"/>
          <p:cNvSpPr/>
          <p:nvPr/>
        </p:nvSpPr>
        <p:spPr>
          <a:xfrm>
            <a:off x="563880" y="5492115"/>
            <a:ext cx="7360920" cy="1069975"/>
          </a:xfrm>
          <a:prstGeom prst="roundRect">
            <a:avLst>
              <a:gd name="adj" fmla="val 12000"/>
            </a:avLst>
          </a:prstGeom>
          <a:solidFill>
            <a:srgbClr val="0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21"/>
          <p:cNvSpPr txBox="1"/>
          <p:nvPr/>
        </p:nvSpPr>
        <p:spPr>
          <a:xfrm>
            <a:off x="728345" y="5693283"/>
            <a:ext cx="12344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基础层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22"/>
          <p:cNvSpPr txBox="1"/>
          <p:nvPr/>
        </p:nvSpPr>
        <p:spPr>
          <a:xfrm>
            <a:off x="1673098" y="5544820"/>
            <a:ext cx="576072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通用大模型</a:t>
            </a:r>
            <a:r>
              <a:rPr lang="en-US" altLang="zh-CN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理赔垂</a:t>
            </a:r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域模型+专用小模型</a:t>
            </a:r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按场景智能路由单规则一专用小模型(低成本)</a:t>
            </a:r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\语义理解一通用大模型(高精度)</a:t>
            </a:r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\行业知识一垂域模型(高效率)</a:t>
            </a:r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endParaRPr lang="zh-CN" altLang="en-US"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23"/>
          <p:cNvSpPr/>
          <p:nvPr/>
        </p:nvSpPr>
        <p:spPr>
          <a:xfrm>
            <a:off x="8089265" y="1596771"/>
            <a:ext cx="73152" cy="29260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4"/>
          <p:cNvSpPr txBox="1"/>
          <p:nvPr/>
        </p:nvSpPr>
        <p:spPr>
          <a:xfrm>
            <a:off x="8414385" y="1127252"/>
            <a:ext cx="3657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Agent</a:t>
            </a:r>
            <a:endParaRPr sz="1500" b="1">
              <a:solidFill>
                <a:srgbClr val="0E3A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25"/>
          <p:cNvSpPr txBox="1"/>
          <p:nvPr/>
        </p:nvSpPr>
        <p:spPr>
          <a:xfrm>
            <a:off x="8414385" y="1438148"/>
            <a:ext cx="3703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材料协查 Agent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进度应答 Agent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内部协查 Agent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条款问答 Agent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质检抽检 Agent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ectangle 26"/>
          <p:cNvSpPr/>
          <p:nvPr/>
        </p:nvSpPr>
        <p:spPr>
          <a:xfrm>
            <a:off x="8089265" y="2840355"/>
            <a:ext cx="73152" cy="29260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27"/>
          <p:cNvSpPr txBox="1"/>
          <p:nvPr/>
        </p:nvSpPr>
        <p:spPr>
          <a:xfrm>
            <a:off x="8414385" y="2567686"/>
            <a:ext cx="3657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sz="1500" b="1">
              <a:solidFill>
                <a:srgbClr val="0E3A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28"/>
          <p:cNvSpPr txBox="1"/>
          <p:nvPr/>
        </p:nvSpPr>
        <p:spPr>
          <a:xfrm>
            <a:off x="8414385" y="2806192"/>
            <a:ext cx="3703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缺件核对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进度口径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协查上下文卡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强制引用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禁区拦截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Rectangle 29"/>
          <p:cNvSpPr/>
          <p:nvPr/>
        </p:nvSpPr>
        <p:spPr>
          <a:xfrm>
            <a:off x="8089265" y="4083938"/>
            <a:ext cx="73152" cy="29260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30"/>
          <p:cNvSpPr txBox="1"/>
          <p:nvPr/>
        </p:nvSpPr>
        <p:spPr>
          <a:xfrm>
            <a:off x="8414385" y="3933762"/>
            <a:ext cx="3657600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MCP</a:t>
            </a:r>
            <a:r>
              <a:rPr sz="15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sz="1500" b="1">
              <a:solidFill>
                <a:srgbClr val="0E3A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31"/>
          <p:cNvSpPr txBox="1"/>
          <p:nvPr/>
        </p:nvSpPr>
        <p:spPr>
          <a:xfrm>
            <a:off x="8414385" y="4259326"/>
            <a:ext cx="370332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案件查询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影像索引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工单状态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Rectangle 32"/>
          <p:cNvSpPr/>
          <p:nvPr/>
        </p:nvSpPr>
        <p:spPr>
          <a:xfrm>
            <a:off x="8089265" y="5327523"/>
            <a:ext cx="73152" cy="29260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33"/>
          <p:cNvSpPr txBox="1"/>
          <p:nvPr/>
        </p:nvSpPr>
        <p:spPr>
          <a:xfrm>
            <a:off x="8414385" y="5069459"/>
            <a:ext cx="3657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E3A66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sz="1500" b="1">
              <a:solidFill>
                <a:srgbClr val="0E3A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TextBox 34"/>
          <p:cNvSpPr txBox="1"/>
          <p:nvPr/>
        </p:nvSpPr>
        <p:spPr>
          <a:xfrm>
            <a:off x="8414385" y="5380355"/>
            <a:ext cx="3703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产品与条款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作业指导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材料规则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对客话术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A36"/>
                </a:solidFill>
                <a:latin typeface="微软雅黑" panose="020B0503020204020204" charset="-122"/>
                <a:ea typeface="微软雅黑" panose="020B0503020204020204" charset="-122"/>
              </a:rPr>
              <a:t>错引案例</a:t>
            </a:r>
            <a:endParaRPr sz="1300" b="0">
              <a:solidFill>
                <a:srgbClr val="1E2A3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3  业务探索场景清单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28600" y="822960"/>
          <a:ext cx="117043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64"/>
                <a:gridCol w="2340864"/>
                <a:gridCol w="2340864"/>
                <a:gridCol w="2340864"/>
                <a:gridCol w="2340864"/>
              </a:tblGrid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场景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业务变革内容（输入→处理→输出）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价值贡献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规划节点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材料
协查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一次性
补件清单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输入案件类型/险种/已交材料 → 检索材料规则库
→ 输出缺件清单+样张指引（人审后发送）</a:t>
                      </a:r>
                      <a:endParaRPr sz="12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减少多次往返
提升一次补全率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一期
试点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进度
应答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对客进度
说明草稿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输入案件号 → 取节点状态字段 → 套用合规话术
→ 生成进度说明（禁止承诺赔付结论）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统一口径
降低催办投诉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一期
试点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内部
协查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案件上下
文卡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输入问题类型 → 白名单取必要字段/影像索引
→ 输出协查卡给理赔员（可跳转原系统）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减少跨系统
查找时间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一期
试点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
问答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条款/作业
指导问答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输入问题 → RAG 检索并强制引用片段
→ 对内解释草稿（高风险话术禁直出）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新人赋能
口径一致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一期
并行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质检
闭环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错引/越权
抽检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抽检人审通过件 → 比对引用与外发文本
→ bad case 回流知识库/提示词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治理闭环
支撑进阶L3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一期末
启动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3  知识库一级/二级目录（可治理资产，而非「丢进向量库」）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65760" y="86868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868680"/>
            <a:ext cx="3703320" cy="41148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9418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产品与条款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1417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条款全文/摘要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责任/除外要点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等待期·免赔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常见误解FAQ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251960" y="86868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868680"/>
            <a:ext cx="3703320" cy="411480"/>
          </a:xfrm>
          <a:prstGeom prst="rect">
            <a:avLst/>
          </a:prstGeom>
          <a:solidFill>
            <a:srgbClr val="4AA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9418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作业指导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34840" y="1417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理赔SOP节点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时效要求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调查触发条件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升级路径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138160" y="86868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868680"/>
            <a:ext cx="3703320" cy="411480"/>
          </a:xfrm>
          <a:prstGeom prst="rect">
            <a:avLst/>
          </a:prstGeom>
          <a:solidFill>
            <a:srgbClr val="2E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9418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材料规则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21040" y="1417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按险种材料清单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样张/示例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一次性告知模板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特殊情形例外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65760" y="356616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566160"/>
            <a:ext cx="3703320" cy="41148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 对客话术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进度说明模板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补件通知模板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禁止承诺清单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投诉安抚口径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251960" y="356616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3566160"/>
            <a:ext cx="3703320" cy="411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05 字段字典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3484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案件主数据字段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权限等级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脱敏规则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取数白名单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38160" y="3566160"/>
            <a:ext cx="370332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566160"/>
            <a:ext cx="3703320" cy="411480"/>
          </a:xfrm>
          <a:prstGeom prst="rect">
            <a:avLst/>
          </a:prstGeom>
          <a:solidFill>
            <a:srgbClr val="6B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06 案例库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2104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典型补件案例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错引bad case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优秀应答样例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质检点评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3  智能体</a:t>
            </a:r>
            <a:r>
              <a:rPr lang="en-US"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demo</a:t>
            </a:r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一次性补件清单原型</a:t>
            </a:r>
            <a:endParaRPr lang="zh-CN" altLang="en-US"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ectangle 6"/>
          <p:cNvSpPr/>
          <p:nvPr/>
        </p:nvSpPr>
        <p:spPr>
          <a:xfrm>
            <a:off x="320040" y="713232"/>
            <a:ext cx="11521440" cy="1828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11"/>
          <p:cNvSpPr/>
          <p:nvPr/>
        </p:nvSpPr>
        <p:spPr>
          <a:xfrm>
            <a:off x="292608" y="896112"/>
            <a:ext cx="11594592" cy="5504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14"/>
          <p:cNvSpPr/>
          <p:nvPr/>
        </p:nvSpPr>
        <p:spPr>
          <a:xfrm>
            <a:off x="4937760" y="1335024"/>
            <a:ext cx="6720840" cy="530352"/>
          </a:xfrm>
          <a:prstGeom prst="roundRect">
            <a:avLst>
              <a:gd name="adj" fmla="val 1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业务员</a:t>
            </a:r>
            <a:r>
              <a:rPr lang="en-US"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:</a:t>
            </a: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  案件 CLM-2026-10086，缺哪些材料？写一次性补件通知。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ounded Rectangle 15"/>
          <p:cNvSpPr/>
          <p:nvPr/>
        </p:nvSpPr>
        <p:spPr>
          <a:xfrm>
            <a:off x="457200" y="1975104"/>
            <a:ext cx="1371600" cy="256032"/>
          </a:xfrm>
          <a:prstGeom prst="roundRect">
            <a:avLst>
              <a:gd name="adj" fmla="val 15000"/>
            </a:avLst>
          </a:prstGeom>
          <a:solidFill>
            <a:srgbClr val="005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16"/>
          <p:cNvSpPr/>
          <p:nvPr/>
        </p:nvSpPr>
        <p:spPr>
          <a:xfrm>
            <a:off x="457200" y="2267712"/>
            <a:ext cx="11228832" cy="713232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5875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00558F"/>
                </a:solidFill>
                <a:latin typeface="Consolas" panose="020B0609020204030204"/>
                <a:ea typeface="Consolas" panose="020B0609020204030204"/>
              </a:rPr>
              <a:t>SELECT case_id, product, node, received_docs, required_docs, image_index</a:t>
            </a:r>
            <a:endParaRPr sz="1300" b="0">
              <a:solidFill>
                <a:srgbClr val="00558F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00558F"/>
                </a:solidFill>
                <a:latin typeface="Consolas" panose="020B0609020204030204"/>
                <a:ea typeface="Consolas" panose="020B0609020204030204"/>
              </a:rPr>
              <a:t>FROM demo_claim_case  WHERE case_id = 'CLM-2026-10086';</a:t>
            </a:r>
            <a:endParaRPr sz="1300" b="0">
              <a:solidFill>
                <a:srgbClr val="00558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9" name="Rounded Rectangle 17"/>
          <p:cNvSpPr/>
          <p:nvPr/>
        </p:nvSpPr>
        <p:spPr>
          <a:xfrm>
            <a:off x="457200" y="3072384"/>
            <a:ext cx="11228832" cy="566928"/>
          </a:xfrm>
          <a:prstGeom prst="roundRect">
            <a:avLst>
              <a:gd name="adj" fmla="val 8000"/>
            </a:avLst>
          </a:prstGeom>
          <a:solidFill>
            <a:srgbClr val="EEF6FB"/>
          </a:solidFill>
          <a:ln w="15875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查询结果    节点：材料齐全性审核。已收 4 项。仍缺费用明细清单、出院小结、检查报告。</a:t>
            </a:r>
            <a:endParaRPr sz="1300" b="1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ounded Rectangle 18"/>
          <p:cNvSpPr/>
          <p:nvPr/>
        </p:nvSpPr>
        <p:spPr>
          <a:xfrm>
            <a:off x="457200" y="3730752"/>
            <a:ext cx="11228832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检索知识库    命中 03 材料规则、04 对客话术。颜色和目录页一致，外发前须人审。</a:t>
            </a:r>
            <a:endParaRPr sz="1300" b="1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ounded Rectangle 19"/>
          <p:cNvSpPr/>
          <p:nvPr/>
        </p:nvSpPr>
        <p:spPr>
          <a:xfrm>
            <a:off x="457200" y="4389120"/>
            <a:ext cx="5532120" cy="713232"/>
          </a:xfrm>
          <a:prstGeom prst="roundRect">
            <a:avLst>
              <a:gd name="adj" fmla="val 8000"/>
            </a:avLst>
          </a:prstGeom>
          <a:solidFill>
            <a:srgbClr val="E5F6EC"/>
          </a:solidFill>
          <a:ln w="15875">
            <a:solidFill>
              <a:srgbClr val="2EA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6B3A"/>
                </a:solidFill>
                <a:latin typeface="微软雅黑" panose="020B0503020204020204" charset="-122"/>
                <a:ea typeface="微软雅黑" panose="020B0503020204020204" charset="-122"/>
              </a:rPr>
              <a:t>03  材料规则    KB-MAT-MED-01</a:t>
            </a:r>
            <a:endParaRPr sz="1300" b="1">
              <a:solidFill>
                <a:srgbClr val="1B6B3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1B6B3A"/>
                </a:solidFill>
                <a:latin typeface="微软雅黑" panose="020B0503020204020204" charset="-122"/>
                <a:ea typeface="微软雅黑" panose="020B0503020204020204" charset="-122"/>
              </a:rPr>
              <a:t>医疗费用 · 标准材料清单。一次列全。</a:t>
            </a:r>
            <a:endParaRPr sz="1300" b="0">
              <a:solidFill>
                <a:srgbClr val="1B6B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ectangle 20"/>
          <p:cNvSpPr/>
          <p:nvPr/>
        </p:nvSpPr>
        <p:spPr>
          <a:xfrm>
            <a:off x="457200" y="4389120"/>
            <a:ext cx="91440" cy="713232"/>
          </a:xfrm>
          <a:prstGeom prst="rect">
            <a:avLst/>
          </a:prstGeom>
          <a:solidFill>
            <a:srgbClr val="2E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/>
        </p:nvSpPr>
        <p:spPr>
          <a:xfrm>
            <a:off x="6126480" y="4389120"/>
            <a:ext cx="5559552" cy="713232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5875">
            <a:solidFill>
              <a:srgbClr val="F0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8A4E00"/>
                </a:solidFill>
                <a:latin typeface="微软雅黑" panose="020B0503020204020204" charset="-122"/>
                <a:ea typeface="微软雅黑" panose="020B0503020204020204" charset="-122"/>
              </a:rPr>
              <a:t>04  对客话术    KB-TALK-02</a:t>
            </a:r>
            <a:endParaRPr sz="1300" b="1">
              <a:solidFill>
                <a:srgbClr val="8A4E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8A4E00"/>
                </a:solidFill>
                <a:latin typeface="微软雅黑" panose="020B0503020204020204" charset="-122"/>
                <a:ea typeface="微软雅黑" panose="020B0503020204020204" charset="-122"/>
              </a:rPr>
              <a:t>一次性补件通知。外发前须人审。</a:t>
            </a:r>
            <a:endParaRPr sz="1300" b="0">
              <a:solidFill>
                <a:srgbClr val="8A4E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ectangle 22"/>
          <p:cNvSpPr/>
          <p:nvPr/>
        </p:nvSpPr>
        <p:spPr>
          <a:xfrm>
            <a:off x="6126480" y="4389120"/>
            <a:ext cx="91440" cy="713232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23"/>
          <p:cNvSpPr/>
          <p:nvPr/>
        </p:nvSpPr>
        <p:spPr>
          <a:xfrm>
            <a:off x="457200" y="5212080"/>
            <a:ext cx="11228832" cy="1024128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5875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09728" bIns="36576" rtlCol="0" anchor="t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给客户的话</a:t>
            </a:r>
            <a:endParaRPr sz="1300" b="1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尊敬的客户，您好：案件 CLM-2026-10086 已受理。请一次性补充：1. 费用明细清单  2. 出院小结  3. 检查报告。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材料齐后继续审核。本通知不含赔付结论。</a:t>
            </a:r>
            <a:endParaRPr sz="13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bldLvl="0" animBg="1"/>
      <p:bldP spid="47" grpId="0" bldLvl="0" animBg="1"/>
      <p:bldP spid="48" grpId="0" bldLvl="0" animBg="1"/>
      <p:bldP spid="49" grpId="0" bldLvl="0" animBg="1"/>
      <p:bldP spid="50" grpId="0" bldLvl="0" animBg="1"/>
      <p:bldP spid="51" grpId="0" bldLvl="0" animBg="1"/>
      <p:bldP spid="52" grpId="0" bldLvl="0" animBg="1"/>
      <p:bldP spid="53" grpId="0" bldLvl="0" animBg="1"/>
      <p:bldP spid="54" grpId="0" bldLvl="0" animBg="1"/>
      <p:bldP spid="55" grpId="0" bldLvl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4  按岗位职责的 AI 重构（可行性分层）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" y="749808"/>
            <a:ext cx="1133856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  <a:ea typeface="微软雅黑" panose="020B0503020204020204" charset="-122"/>
              </a:rPr>
              <a:t>高=现有技术可落地｜中=需领域评测与流程改造｜低=依赖监管/责任制度突破</a:t>
            </a:r>
            <a:endParaRPr sz="1100" b="0">
              <a:solidFill>
                <a:srgbClr val="66666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28600" y="1051560"/>
          <a:ext cx="1170432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  <a:gridCol w="1950720"/>
                <a:gridCol w="1950720"/>
                <a:gridCol w="1950720"/>
              </a:tblGrid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岗位/领域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子任务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AI重构方案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可行性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技术路径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预期效果(方向)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理赔协查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材料齐全性预审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规则清单+LLM辅助核对已交材料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高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规则引擎+RAG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一次补全率↑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理赔协查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跨系统上下文汇总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白名单取数生成协查卡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高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查询工具+模板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查找耗时↓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客服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进度问询应答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节点字段+合规话术草稿+人审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高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RAG+Skill+人审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FF00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催办投诉↓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FF00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客服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情绪安抚话术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话术库检索+禁区过滤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中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RAG+规则过滤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满意度稳中有升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质检/运营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错引抽检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引用比对+抽样看板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高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规则+日志分析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错引率可控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45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理赔审核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自动定损/核赔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——（明确不做）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低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highlight>
                            <a:srgbClr val="FF00FF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责任不可外包给模型</a:t>
                      </a:r>
                      <a:endParaRPr sz="1400" b="0">
                        <a:solidFill>
                          <a:srgbClr val="222222"/>
                        </a:solidFill>
                        <a:highlight>
                          <a:srgbClr val="FF00FF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5  风险合规重塑：先成为可靠副驾驶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82296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风险类型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典型表现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控制措施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责任归属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幻觉/错引条款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草稿看似专业但引用错误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强制引用；高风险禁直出；质检抽检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外发责任在人审人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隐私与越权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取到与岗位无关的客户字段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字段白名单；脱敏；审计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权限中心+使用人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不当承诺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对客承诺赔付结论/时限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禁区词表+拦截；话术模板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客服主管/人审人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流程漂移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绕过人审直接外发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系统门禁不可关闭（生产）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平台治理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知识腐烂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旧条款/旧口径仍被检索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版本管理；生效区间；负责人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知识Owner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重复建设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烟囱式Agent脱离中台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复用集团AI/知识工程能力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架构治理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74320" y="5577840"/>
            <a:ext cx="11612880" cy="73152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471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L2 </a:t>
            </a:r>
            <a:r>
              <a:rPr lang="en-US"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to L3</a:t>
            </a: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不是「更敢自动」，而是「更敢治理」：评测集、bad case 回流、知识版本、责任清晰——再谈扩大自动化边界。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6  推进路线｜试点 → 扩场景 → 治理进阶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822960"/>
          <a:ext cx="11612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1949450"/>
                <a:gridCol w="2695702"/>
                <a:gridCol w="2322576"/>
                <a:gridCol w="2322576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阶段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周期(示意)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核心内容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交付物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退出/准入条件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 对齐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2–4 周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选1–2高频场景；盘点可对接字段与知识Owner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场景说明书+字段白名单草案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业务方书面确认边界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 试点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6–10 周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补件清单+进度草稿+人审门禁；小范围试用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可用工作流+评测集v1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人审通过率达标且零重大错引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扩面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下阶段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扩险种/扩问题类型；接入质检抽检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知识目录完整版+看板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一次补全率/响应时长改善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治理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持续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bad case回流；知识版本；L3记忆反思能力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治理周报+版本发布机制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可审计、可回滚</a:t>
                      </a:r>
                      <a:endParaRPr sz="14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297680"/>
            <a:ext cx="1133856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</a:rPr>
              <a:t>成效指标（试点可验收 ）</a:t>
            </a:r>
            <a:endParaRPr sz="1300" b="1">
              <a:solidFill>
                <a:srgbClr val="1A3A5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74320" y="4617720"/>
          <a:ext cx="116128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指标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定义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观察方式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备注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0072BC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首次响应时长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问询进入→首次有效回复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工单时间戳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人审耗时应计入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一次补全率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一次告知后补齐材料占比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补件闭环统计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核心业务价值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人审通过率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一次通过 / (通过+驳回+大改)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人审日志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过低说明生成质量差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错引率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抽检发现错误引用占比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质检抽样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一票否决类指标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EF6FB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禁区拦截次数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命中不当承诺被拦次数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门禁日志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越高越说明规则有用</a:t>
                      </a:r>
                      <a:endParaRPr sz="10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PART 7  资源需求 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1"/>
            </p:custDataLst>
          </p:nvPr>
        </p:nvSpPr>
        <p:spPr>
          <a:xfrm>
            <a:off x="320040" y="822960"/>
            <a:ext cx="5669280" cy="48571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2"/>
            </p:custDataLst>
          </p:nvPr>
        </p:nvSpPr>
        <p:spPr>
          <a:xfrm>
            <a:off x="320040" y="822960"/>
            <a:ext cx="5669280" cy="36576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3"/>
            </p:custDataLst>
          </p:nvPr>
        </p:nvSpPr>
        <p:spPr>
          <a:xfrm>
            <a:off x="457200" y="877824"/>
            <a:ext cx="539496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落地所需协同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4"/>
            </p:custDataLst>
          </p:nvPr>
        </p:nvSpPr>
        <p:spPr>
          <a:xfrm>
            <a:off x="502920" y="1325880"/>
            <a:ext cx="5303520" cy="157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业务：理赔/客服场景Owner、知识Owner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科技：AI中台/知识工程/权限与审计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风控合规：禁区话术与外发规范评审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运营：试点名单、质检抽样、周复盘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数据：字段口径确认（只读最小集）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5"/>
            </p:custDataLst>
          </p:nvPr>
        </p:nvSpPr>
        <p:spPr>
          <a:xfrm>
            <a:off x="6217920" y="822960"/>
            <a:ext cx="5623560" cy="48380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6"/>
            </p:custDataLst>
          </p:nvPr>
        </p:nvSpPr>
        <p:spPr>
          <a:xfrm>
            <a:off x="6217920" y="822960"/>
            <a:ext cx="5623560" cy="36576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7"/>
            </p:custDataLst>
          </p:nvPr>
        </p:nvSpPr>
        <p:spPr>
          <a:xfrm>
            <a:off x="6355080" y="877824"/>
            <a:ext cx="53035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我为何能推进（同构经验）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8"/>
            </p:custDataLst>
          </p:nvPr>
        </p:nvSpPr>
        <p:spPr>
          <a:xfrm>
            <a:off x="6400800" y="1325880"/>
            <a:ext cx="5212080" cy="1268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DataAgent：跨系统取数编排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安规Loop：知识库+Skill+运营终审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处理时效约+120%（美的</a:t>
            </a:r>
            <a:r>
              <a:rPr lang="zh-CN"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经验</a:t>
            </a: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500"/>
              </a:spcBef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Skill工程：需求→逻辑→测试→试用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 在保险理赔末梢：
先成为可靠副驾驶，再谈自动驾驶。</a:t>
            </a:r>
            <a:endParaRPr sz="2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BF7"/>
                </a:solidFill>
                <a:latin typeface="微软雅黑" panose="020B0503020204020204" charset="-122"/>
                <a:ea typeface="微软雅黑" panose="020B0503020204020204" charset="-122"/>
              </a:rPr>
              <a:t>提效 · 可追责 · 可试点 · 可治理</a:t>
            </a:r>
            <a:endParaRPr sz="1800" b="0">
              <a:solidFill>
                <a:srgbClr val="D6EBF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谢谢各位老师 </a:t>
            </a:r>
            <a:r>
              <a:rPr lang="zh-CN"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，恳请批评指正</a:t>
            </a: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｜ 杨昀昊 ｜ 主题一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1016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D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566928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"/>
            <a:ext cx="96012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E8C"/>
                </a:solidFill>
                <a:latin typeface="微软雅黑" panose="020B0503020204020204" charset="-122"/>
                <a:ea typeface="微软雅黑" panose="020B0503020204020204" charset="-122"/>
              </a:rPr>
              <a:t>附录  主要公开来源</a:t>
            </a:r>
            <a:endParaRPr sz="1800" b="1">
              <a:solidFill>
                <a:srgbClr val="004E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03504"/>
            <a:ext cx="11612880" cy="13716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10972800" cy="171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王磊（中国太保CIO）：《保险机构数字化转型路径》，中国金融杂志 / 新浪财经，2025-08-29（AI座席、健康险理赔助手、AI中台等公开口径）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中国太保 2024 年报（港交所披露）：Di08-4 智能理赔服务中台、数字劳动力、数智太保等相关表述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中国太保业绩说明会公开材料：AI+战略、健康险理赔自动化与体验相关问答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公开报道：金融消保与服务创新案例中「太贴心」等理赔服务数字化实践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行业公开：理赔材料清单/作业节点培训材料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•  方法参考：Agent 能力分级公开论文思路；Multi-Agent + RAG + 强制引用 + 人审门禁的行业 POC 实践</a:t>
            </a:r>
            <a:endParaRPr sz="12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2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3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4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5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6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7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8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9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0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1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2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3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4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5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6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7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8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19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20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21.xml><?xml version="1.0" encoding="utf-8"?>
<p:tagLst xmlns:p="http://schemas.openxmlformats.org/presentationml/2006/main">
  <p:tag name="KSO_WM_DIAGRAM_VIRTUALLY_FRAME" val="{&quot;height&quot;:396.34000000000003,&quot;left&quot;:50.4,&quot;top&quot;:74.16,&quot;width&quot;:842.4}"/>
</p:tagLst>
</file>

<file path=ppt/tags/tag22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3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4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5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6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7.xml><?xml version="1.0" encoding="utf-8"?>
<p:tagLst xmlns:p="http://schemas.openxmlformats.org/presentationml/2006/main">
  <p:tag name="KSO_WM_DIAGRAM_VIRTUALLY_FRAME" val="{&quot;height&quot;:421.2,&quot;left&quot;:28.8,&quot;top&quot;:64.8,&quot;width&quot;:889.2}"/>
</p:tagLst>
</file>

<file path=ppt/tags/tag28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29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0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1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2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3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4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5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6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7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8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39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0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1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2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3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4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5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6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7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8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49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50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51.xml><?xml version="1.0" encoding="utf-8"?>
<p:tagLst xmlns:p="http://schemas.openxmlformats.org/presentationml/2006/main">
  <p:tag name="KSO_WM_DIAGRAM_VIRTUALLY_FRAME" val="{&quot;height&quot;:187.2,&quot;left&quot;:25.2,&quot;top&quot;:93.6,&quot;width&quot;:918}"/>
</p:tagLst>
</file>

<file path=ppt/tags/tag52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3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4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5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6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7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8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ags/tag59.xml><?xml version="1.0" encoding="utf-8"?>
<p:tagLst xmlns:p="http://schemas.openxmlformats.org/presentationml/2006/main">
  <p:tag name="KSO_WM_DIAGRAM_VIRTUALLY_FRAME" val="{&quot;height&quot;:382.45,&quot;left&quot;:25.2,&quot;top&quot;:64.8,&quot;width&quot;:907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4531</Words>
  <Application>WPS 演示</Application>
  <PresentationFormat>On-screen Show (4:3)</PresentationFormat>
  <Paragraphs>707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杨昀昊</cp:lastModifiedBy>
  <cp:revision>5</cp:revision>
  <dcterms:created xsi:type="dcterms:W3CDTF">2013-01-27T09:14:00Z</dcterms:created>
  <dcterms:modified xsi:type="dcterms:W3CDTF">2026-10-18T03:19:38Z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E58455A3D2FF4127BFFDAACBB891A7AF_13</vt:lpwstr>
  </property>
</Properties>
</file>