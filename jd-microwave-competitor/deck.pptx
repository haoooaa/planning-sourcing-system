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5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6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33" r:id="rId2"/>
    <p:sldId id="334" r:id="rId3"/>
    <p:sldId id="859" r:id="rId4"/>
    <p:sldId id="858" r:id="rId5"/>
    <p:sldId id="860" r:id="rId6"/>
    <p:sldId id="430" r:id="rId7"/>
    <p:sldId id="415" r:id="rId8"/>
    <p:sldId id="861" r:id="rId9"/>
    <p:sldId id="862" r:id="rId10"/>
    <p:sldId id="561" r:id="rId11"/>
    <p:sldId id="863" r:id="rId12"/>
    <p:sldId id="574" r:id="rId13"/>
    <p:sldId id="864" r:id="rId14"/>
  </p:sldIdLst>
  <p:sldSz cx="12192000" cy="6858000"/>
  <p:notesSz cx="6858000" cy="9144000"/>
  <p:custDataLst>
    <p:tags r:id="rId17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微软雅黑" panose="020B0503020204020204" pitchFamily="34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微软雅黑" panose="020B0503020204020204" pitchFamily="34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微软雅黑" panose="020B0503020204020204" pitchFamily="34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微软雅黑" panose="020B0503020204020204" pitchFamily="34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微软雅黑" panose="020B0503020204020204" pitchFamily="34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微软雅黑" panose="020B0503020204020204" pitchFamily="34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微软雅黑" panose="020B0503020204020204" pitchFamily="34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微软雅黑" panose="020B0503020204020204" pitchFamily="34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7" userDrawn="1">
          <p15:clr>
            <a:srgbClr val="A4A3A4"/>
          </p15:clr>
        </p15:guide>
        <p15:guide id="2" pos="5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unhao yang" initials="y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3366"/>
    <a:srgbClr val="1D41D5"/>
    <a:srgbClr val="0045C4"/>
    <a:srgbClr val="003E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47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897"/>
        <p:guide pos="5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24037;&#20316;&#31807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[工作簿1]Sheet1!$A$2</c:f>
              <c:strCache>
                <c:ptCount val="1"/>
                <c:pt idx="0">
                  <c:v>线上规模（亿元）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[工作簿1]Sheet1!$B$1:$E$1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[工作簿1]Sheet1!$B$2:$E$2</c:f>
              <c:numCache>
                <c:formatCode>General</c:formatCode>
                <c:ptCount val="4"/>
                <c:pt idx="0">
                  <c:v>36.26</c:v>
                </c:pt>
                <c:pt idx="1">
                  <c:v>34.03</c:v>
                </c:pt>
                <c:pt idx="2">
                  <c:v>35.729999999999997</c:v>
                </c:pt>
                <c:pt idx="3">
                  <c:v>39.119999999999997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F6-4C9A-B37E-16EF7C2A4A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14093232"/>
        <c:axId val="1714084112"/>
      </c:barChart>
      <c:lineChart>
        <c:grouping val="standard"/>
        <c:varyColors val="0"/>
        <c:ser>
          <c:idx val="1"/>
          <c:order val="1"/>
          <c:tx>
            <c:strRef>
              <c:f>[工作簿1]Sheet1!$A$3</c:f>
              <c:strCache>
                <c:ptCount val="1"/>
                <c:pt idx="0">
                  <c:v>同比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[工作簿1]Sheet1!$B$1:$E$1</c:f>
              <c:numCache>
                <c:formatCode>General</c:formatCod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numCache>
            </c:numRef>
          </c:cat>
          <c:val>
            <c:numRef>
              <c:f>[工作簿1]Sheet1!$B$3:$E$3</c:f>
              <c:numCache>
                <c:formatCode>General</c:formatCode>
                <c:ptCount val="4"/>
                <c:pt idx="1">
                  <c:v>-6.15</c:v>
                </c:pt>
                <c:pt idx="2">
                  <c:v>5.0199999999999996</c:v>
                </c:pt>
                <c:pt idx="3">
                  <c:v>9.4600000000000009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F6-4C9A-B37E-16EF7C2A4A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14080272"/>
        <c:axId val="1714065392"/>
      </c:lineChart>
      <c:catAx>
        <c:axId val="1714093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14084112"/>
        <c:crosses val="autoZero"/>
        <c:auto val="1"/>
        <c:lblAlgn val="ctr"/>
        <c:lblOffset val="100"/>
        <c:noMultiLvlLbl val="0"/>
      </c:catAx>
      <c:valAx>
        <c:axId val="1714084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/>
                  <a:t>亿元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14093232"/>
        <c:crosses val="autoZero"/>
        <c:crossBetween val="between"/>
      </c:valAx>
      <c:catAx>
        <c:axId val="17140802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14065392"/>
        <c:crosses val="autoZero"/>
        <c:auto val="1"/>
        <c:lblAlgn val="ctr"/>
        <c:lblOffset val="100"/>
        <c:noMultiLvlLbl val="0"/>
      </c:catAx>
      <c:valAx>
        <c:axId val="1714065392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%</a:t>
                </a:r>
                <a:endParaRPr lang="zh-CN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14080272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364618b-e283-4edb-8793-db3d7223ce19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9C48EFF-21B8-457E-B4AA-C87D65E31FA4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</a:rPr>
              <a:t>2026/4/8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D6EB99-BE5A-465E-9995-865A146F54FE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D070FD-DDEB-49A2-A65A-D1EC90213728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2026/4/8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6E2435-A205-47EC-882E-514E911736F5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41288" y="768350"/>
            <a:ext cx="6819900" cy="3836988"/>
          </a:xfrm>
          <a:ln>
            <a:miter lim="800000"/>
          </a:ln>
        </p:spPr>
      </p:sp>
      <p:sp>
        <p:nvSpPr>
          <p:cNvPr id="6147" name="Rectangle 3"/>
          <p:cNvSpPr>
            <a:spLocks noGrp="1"/>
          </p:cNvSpPr>
          <p:nvPr>
            <p:ph type="body"/>
          </p:nvPr>
        </p:nvSpPr>
        <p:spPr/>
        <p:txBody>
          <a:bodyPr wrap="square" lIns="94754" tIns="47377" rIns="94754" bIns="47377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r>
              <a:rPr lang="zh-CN" altLang="en-US" dirty="0"/>
              <a:t>难以体现交通网络的流动性特征以及交通网络对城市空间的塑造</a:t>
            </a: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6E2435-A205-47EC-882E-514E911736F5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r>
              <a:rPr lang="zh-CN" altLang="en-US" dirty="0"/>
              <a:t>难以体现交通网络的流动性特征以及交通网络对城市空间的塑造</a:t>
            </a: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6E2435-A205-47EC-882E-514E911736F5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/>
            <a:r>
              <a:rPr lang="zh-CN" altLang="en-US" dirty="0"/>
              <a:t>难以体现交通网络的流动性特征以及交通网络对城市空间的塑造</a:t>
            </a: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6E2435-A205-47EC-882E-514E911736F5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59277-8BEB-3172-5DEF-BD80643DD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5294F89-1CBD-0DA0-137B-6EA2962B2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A9B785-640F-59A9-F6E1-FA38F0096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7081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C56847C-A1AB-4615-89D6-CC133900A3C0}" type="datetime1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2026/4/8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F15040-2384-4D08-AAD9-8BF47BBA09F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18B9BE-1A07-4086-9896-E62300B1DB8F}" type="datetime1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2026/4/8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F15040-2384-4D08-AAD9-8BF47BBA09F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7D2520-97C9-4CB4-A922-E99C3DFCF97C}" type="datetime1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2026/4/8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F15040-2384-4D08-AAD9-8BF47BBA09F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D5B057-72F5-4245-8EAC-4EED8B2DF8C3}" type="datetime1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2026/4/8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F15040-2384-4D08-AAD9-8BF47BBA09F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2B0C55-6478-49D2-A157-50CE7380DB4D}" type="datetime1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2026/4/8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F15040-2384-4D08-AAD9-8BF47BBA09F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6E3194-9C77-4F04-A858-A3222D0E9C34}" type="datetime1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2026/4/8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F15040-2384-4D08-AAD9-8BF47BBA09F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B31C6F-3270-4150-9AF1-CA3793765561}" type="datetime1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2026/4/8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F15040-2384-4D08-AAD9-8BF47BBA09F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171F12-F2AD-4EE2-A2B0-7B933455D3B2}" type="datetime1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2026/4/8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F15040-2384-4D08-AAD9-8BF47BBA09F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7CB37C0-8E76-4446-AC2E-22CABB5DCA3F}" type="datetime1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2026/4/8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F15040-2384-4D08-AAD9-8BF47BBA09F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D85A0BD-091F-4CCA-A264-36F262161E8D}" type="datetime1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2026/4/8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F15040-2384-4D08-AAD9-8BF47BBA09F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6B57089-7878-4A82-B083-B009A33D55DD}" type="datetime1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2026/4/8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F15040-2384-4D08-AAD9-8BF47BBA09F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55928" y="71444"/>
            <a:ext cx="9926472" cy="1017775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sz="quarter" idx="13"/>
          </p:nvPr>
        </p:nvSpPr>
        <p:spPr>
          <a:xfrm>
            <a:off x="248594" y="81893"/>
            <a:ext cx="846161" cy="914611"/>
          </a:xfrm>
        </p:spPr>
        <p:txBody>
          <a:bodyPr/>
          <a:lstStyle>
            <a:lvl1pPr marL="0" indent="0" algn="ctr">
              <a:buNone/>
              <a:defRPr lang="zh-CN" altLang="en-US" sz="4400" b="1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E3BED21-CE80-4E84-815E-4346CBA88C51}" type="datetime1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2026/4/8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176827-347A-4273-9B9C-3690378F580B}" type="slidenum">
              <a:rPr kumimoji="0" lang="en-US" altLang="zh-CN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defRPr sz="1200" noProof="1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B850EB2-0D62-4663-83DB-2AAB8F4DC3B6}" type="datetime1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2026/4/8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defRPr sz="1200" noProof="1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F15040-2384-4D08-AAD9-8BF47BBA09F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chart" Target="../charts/chart1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6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/>
          <p:nvPr/>
        </p:nvSpPr>
        <p:spPr>
          <a:xfrm>
            <a:off x="0" y="1492885"/>
            <a:ext cx="12192000" cy="2704465"/>
          </a:xfrm>
          <a:prstGeom prst="rect">
            <a:avLst/>
          </a:prstGeom>
          <a:solidFill>
            <a:srgbClr val="003366"/>
          </a:solidFill>
          <a:ln w="9525">
            <a:noFill/>
          </a:ln>
        </p:spPr>
        <p:txBody>
          <a:bodyPr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algn="ctr">
              <a:lnSpc>
                <a:spcPct val="180000"/>
              </a:lnSpc>
              <a:spcBef>
                <a:spcPct val="0"/>
              </a:spcBef>
              <a:buClr>
                <a:srgbClr val="003366"/>
              </a:buClr>
              <a:buFontTx/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方正小标宋简体" pitchFamily="65" charset="-122"/>
                <a:ea typeface="方正小标宋简体" pitchFamily="65" charset="-122"/>
                <a:sym typeface="微软雅黑" panose="020B0503020204020204" pitchFamily="34" charset="-122"/>
              </a:rPr>
              <a:t>基于京东平台评论反馈的</a:t>
            </a:r>
            <a:endParaRPr lang="en-US" altLang="zh-CN" sz="3600" b="1" dirty="0">
              <a:solidFill>
                <a:srgbClr val="FFFFFF"/>
              </a:solidFill>
              <a:latin typeface="方正小标宋简体" pitchFamily="65" charset="-122"/>
              <a:ea typeface="方正小标宋简体" pitchFamily="65" charset="-122"/>
              <a:sym typeface="微软雅黑" panose="020B0503020204020204" pitchFamily="34" charset="-122"/>
            </a:endParaRPr>
          </a:p>
          <a:p>
            <a:pPr marL="342900" lvl="0" indent="-342900" algn="ctr">
              <a:lnSpc>
                <a:spcPct val="180000"/>
              </a:lnSpc>
              <a:spcBef>
                <a:spcPct val="0"/>
              </a:spcBef>
              <a:buClr>
                <a:srgbClr val="003366"/>
              </a:buClr>
              <a:buFontTx/>
              <a:buNone/>
            </a:pPr>
            <a:r>
              <a:rPr lang="en-US" altLang="zh-CN" sz="3600" b="1" dirty="0">
                <a:solidFill>
                  <a:srgbClr val="FFFFFF"/>
                </a:solidFill>
                <a:latin typeface="方正小标宋简体" pitchFamily="65" charset="-122"/>
                <a:ea typeface="方正小标宋简体" pitchFamily="65" charset="-122"/>
                <a:sym typeface="微软雅黑" panose="020B0503020204020204" pitchFamily="34" charset="-122"/>
              </a:rPr>
              <a:t>“</a:t>
            </a:r>
            <a:r>
              <a:rPr lang="zh-CN" altLang="en-US" sz="3600" b="1" dirty="0">
                <a:solidFill>
                  <a:srgbClr val="FFFFFF"/>
                </a:solidFill>
                <a:latin typeface="方正小标宋简体" pitchFamily="65" charset="-122"/>
                <a:ea typeface="方正小标宋简体" pitchFamily="65" charset="-122"/>
                <a:sym typeface="微软雅黑" panose="020B0503020204020204" pitchFamily="34" charset="-122"/>
              </a:rPr>
              <a:t>复古奶油风</a:t>
            </a:r>
            <a:r>
              <a:rPr lang="en-US" altLang="zh-CN" sz="3600" b="1" dirty="0">
                <a:solidFill>
                  <a:srgbClr val="FFFFFF"/>
                </a:solidFill>
                <a:latin typeface="方正小标宋简体" pitchFamily="65" charset="-122"/>
                <a:ea typeface="方正小标宋简体" pitchFamily="65" charset="-122"/>
                <a:sym typeface="微软雅黑" panose="020B0503020204020204" pitchFamily="34" charset="-122"/>
              </a:rPr>
              <a:t>”</a:t>
            </a:r>
            <a:r>
              <a:rPr lang="zh-CN" altLang="en-US" sz="3600" b="1" dirty="0">
                <a:solidFill>
                  <a:srgbClr val="FFFFFF"/>
                </a:solidFill>
                <a:latin typeface="方正小标宋简体" pitchFamily="65" charset="-122"/>
                <a:ea typeface="方正小标宋简体" pitchFamily="65" charset="-122"/>
                <a:sym typeface="微软雅黑" panose="020B0503020204020204" pitchFamily="34" charset="-122"/>
              </a:rPr>
              <a:t>微波炉竞品分析</a:t>
            </a:r>
          </a:p>
        </p:txBody>
      </p:sp>
      <p:sp>
        <p:nvSpPr>
          <p:cNvPr id="5123" name="Text Box 6"/>
          <p:cNvSpPr txBox="1"/>
          <p:nvPr/>
        </p:nvSpPr>
        <p:spPr>
          <a:xfrm>
            <a:off x="4796256" y="4373594"/>
            <a:ext cx="3541497" cy="141237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     杨昀昊</a:t>
            </a:r>
            <a:endParaRPr lang="en-US" altLang="zh-CN" sz="24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黑体" panose="02010609060101010101" pitchFamily="49" charset="-122"/>
              </a:rPr>
              <a:t>Email:2755383603@qq.com</a:t>
            </a:r>
            <a:endParaRPr lang="zh-CN" altLang="en-US" sz="1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  <a:sym typeface="黑体" panose="02010609060101010101" pitchFamily="49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Tel:136-8264-4665</a:t>
            </a:r>
            <a:endParaRPr lang="zh-CN" altLang="en-US" sz="1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41A11EB-BE88-EE04-4A74-BAA7DBEE5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F15040-2384-4D08-AAD9-8BF47BBA09FA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3"/>
          <p:cNvSpPr/>
          <p:nvPr/>
        </p:nvSpPr>
        <p:spPr>
          <a:xfrm>
            <a:off x="1998345" y="1900555"/>
            <a:ext cx="10193655" cy="3833495"/>
          </a:xfrm>
          <a:prstGeom prst="rect">
            <a:avLst/>
          </a:prstGeom>
          <a:solidFill>
            <a:srgbClr val="40668C"/>
          </a:solidFill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>
              <a:lnSpc>
                <a:spcPct val="120000"/>
              </a:lnSpc>
              <a:spcBef>
                <a:spcPct val="20000"/>
              </a:spcBef>
              <a:buClr>
                <a:srgbClr val="003366"/>
              </a:buClr>
              <a:buFontTx/>
              <a:buNone/>
            </a:pPr>
            <a:endParaRPr lang="zh-CN" altLang="en-US" sz="3200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  <a:sym typeface="微软雅黑" panose="020B0503020204020204" pitchFamily="34" charset="-122"/>
            </a:endParaRPr>
          </a:p>
        </p:txBody>
      </p:sp>
      <p:sp>
        <p:nvSpPr>
          <p:cNvPr id="7171" name="标题 1"/>
          <p:cNvSpPr/>
          <p:nvPr/>
        </p:nvSpPr>
        <p:spPr>
          <a:xfrm>
            <a:off x="0" y="635"/>
            <a:ext cx="12192000" cy="2433320"/>
          </a:xfrm>
          <a:prstGeom prst="rect">
            <a:avLst/>
          </a:prstGeom>
          <a:solidFill>
            <a:srgbClr val="FFFFFF">
              <a:alpha val="50195"/>
            </a:srgbClr>
          </a:solidFill>
          <a:ln w="19050" cap="flat" cmpd="sng">
            <a:solidFill>
              <a:srgbClr val="D9D9D9"/>
            </a:solidFill>
            <a:prstDash val="sysDot"/>
            <a:miter/>
            <a:headEnd type="none" w="med" len="med"/>
            <a:tailEnd type="none" w="med" len="med"/>
          </a:ln>
        </p:spPr>
        <p:txBody>
          <a:bodyPr lIns="360000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4400" b="1" dirty="0">
                <a:solidFill>
                  <a:srgbClr val="0070C0"/>
                </a:solidFill>
                <a:latin typeface="方正小标宋简体" pitchFamily="65" charset="-122"/>
                <a:ea typeface="方正小标宋简体" pitchFamily="65" charset="-122"/>
              </a:rPr>
              <a:t>         提纲</a:t>
            </a:r>
          </a:p>
        </p:txBody>
      </p:sp>
      <p:sp>
        <p:nvSpPr>
          <p:cNvPr id="7172" name="标题 1"/>
          <p:cNvSpPr txBox="1"/>
          <p:nvPr/>
        </p:nvSpPr>
        <p:spPr>
          <a:xfrm>
            <a:off x="3511243" y="2692810"/>
            <a:ext cx="6182995" cy="2605405"/>
          </a:xfrm>
          <a:prstGeom prst="rect">
            <a:avLst/>
          </a:prstGeom>
          <a:noFill/>
          <a:ln w="9525">
            <a:noFill/>
          </a:ln>
        </p:spPr>
        <p:txBody>
          <a:bodyPr wrap="square" lIns="360000" tIns="72000" rIns="72000" bIns="7200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rgbClr val="FFFFFF"/>
                </a:solidFill>
                <a:ea typeface="方正小标宋简体" pitchFamily="65" charset="-122"/>
              </a:rPr>
              <a:t>一、</a:t>
            </a:r>
            <a:r>
              <a:rPr lang="zh-CN" altLang="zh-CN" sz="2000" b="1" dirty="0">
                <a:solidFill>
                  <a:srgbClr val="FFFFFF"/>
                </a:solidFill>
                <a:ea typeface="方正小标宋简体" pitchFamily="65" charset="-122"/>
                <a:sym typeface="微软雅黑" panose="020B0503020204020204" pitchFamily="34" charset="-122"/>
              </a:rPr>
              <a:t>背景与目的</a:t>
            </a:r>
            <a:r>
              <a:rPr lang="en-US" altLang="zh-CN" sz="2000" b="1" dirty="0">
                <a:solidFill>
                  <a:srgbClr val="FFFFFF"/>
                </a:solidFill>
                <a:ea typeface="方正小标宋简体" pitchFamily="65" charset="-122"/>
                <a:sym typeface="微软雅黑" panose="020B0503020204020204" pitchFamily="34" charset="-122"/>
              </a:rPr>
              <a:t> </a:t>
            </a:r>
            <a:endParaRPr lang="zh-CN" altLang="en-US" sz="2000" b="1" dirty="0">
              <a:solidFill>
                <a:srgbClr val="FFFFFF"/>
              </a:solidFill>
              <a:ea typeface="方正小标宋简体" pitchFamily="65" charset="-122"/>
            </a:endParaRPr>
          </a:p>
          <a:p>
            <a:pPr marL="0" lvl="0" indent="0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CN" altLang="zh-CN" sz="2000" b="1" dirty="0">
                <a:solidFill>
                  <a:srgbClr val="FFFFFF"/>
                </a:solidFill>
                <a:ea typeface="方正小标宋简体" pitchFamily="65" charset="-122"/>
              </a:rPr>
              <a:t>二、</a:t>
            </a:r>
            <a:r>
              <a:rPr lang="zh-CN" altLang="zh-CN" sz="2000" b="1" dirty="0">
                <a:solidFill>
                  <a:srgbClr val="FFFFFF"/>
                </a:solidFill>
                <a:ea typeface="方正小标宋简体" pitchFamily="65" charset="-122"/>
                <a:sym typeface="微软雅黑" panose="020B0503020204020204" pitchFamily="34" charset="-122"/>
              </a:rPr>
              <a:t>数据和方法</a:t>
            </a:r>
          </a:p>
          <a:p>
            <a:pPr marL="0" lvl="0" indent="0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rgbClr val="FFFFFF"/>
                </a:solidFill>
                <a:ea typeface="方正小标宋简体" pitchFamily="65" charset="-122"/>
                <a:sym typeface="+mn-ea"/>
              </a:rPr>
              <a:t>三、竞品对比</a:t>
            </a:r>
            <a:r>
              <a:rPr lang="zh-CN" altLang="zh-CN" sz="2000" b="1" dirty="0">
                <a:solidFill>
                  <a:srgbClr val="FFFFFF"/>
                </a:solidFill>
                <a:ea typeface="方正小标宋简体" pitchFamily="65" charset="-122"/>
                <a:sym typeface="+mn-ea"/>
              </a:rPr>
              <a:t>分析</a:t>
            </a:r>
            <a:r>
              <a:rPr lang="en-US" altLang="zh-CN" sz="2000" b="1" dirty="0">
                <a:solidFill>
                  <a:srgbClr val="FFFFFF"/>
                </a:solidFill>
                <a:ea typeface="方正小标宋简体" pitchFamily="65" charset="-122"/>
                <a:sym typeface="+mn-ea"/>
              </a:rPr>
              <a:t> </a:t>
            </a:r>
            <a:endParaRPr lang="zh-CN" altLang="en-US" sz="2000" b="1" dirty="0">
              <a:solidFill>
                <a:srgbClr val="FFFFFF"/>
              </a:solidFill>
              <a:ea typeface="方正小标宋简体" pitchFamily="65" charset="-122"/>
              <a:sym typeface="+mn-ea"/>
            </a:endParaRPr>
          </a:p>
          <a:p>
            <a:pPr marL="0" lvl="0" indent="0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rgbClr val="FFFFFF"/>
                </a:solidFill>
                <a:ea typeface="方正小标宋简体" pitchFamily="65" charset="-122"/>
                <a:sym typeface="+mn-ea"/>
              </a:rPr>
              <a:t>四、</a:t>
            </a:r>
            <a:r>
              <a:rPr lang="zh-CN" altLang="en-US" sz="2000" b="1" dirty="0">
                <a:solidFill>
                  <a:srgbClr val="FFFFFF"/>
                </a:solidFill>
                <a:ea typeface="方正小标宋简体" pitchFamily="65" charset="-122"/>
                <a:sym typeface="微软雅黑" panose="020B0503020204020204" pitchFamily="34" charset="-122"/>
              </a:rPr>
              <a:t>结论与展望</a:t>
            </a:r>
            <a:endParaRPr lang="zh-CN" altLang="en-US" sz="2000" b="1" dirty="0">
              <a:solidFill>
                <a:srgbClr val="FFFFFF"/>
              </a:solidFill>
              <a:ea typeface="方正小标宋简体" pitchFamily="65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8FD3340-EBF0-4340-9A96-D669A7C65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F15040-2384-4D08-AAD9-8BF47BBA09FA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5" name="组合 3"/>
          <p:cNvGrpSpPr/>
          <p:nvPr/>
        </p:nvGrpSpPr>
        <p:grpSpPr>
          <a:xfrm>
            <a:off x="707573" y="260350"/>
            <a:ext cx="10338252" cy="715963"/>
            <a:chOff x="946974" y="197898"/>
            <a:chExt cx="10337793" cy="715710"/>
          </a:xfrm>
        </p:grpSpPr>
        <p:sp>
          <p:nvSpPr>
            <p:cNvPr id="5" name="Parallelogram 13"/>
            <p:cNvSpPr/>
            <p:nvPr/>
          </p:nvSpPr>
          <p:spPr>
            <a:xfrm>
              <a:off x="947426" y="197898"/>
              <a:ext cx="5078188" cy="715710"/>
            </a:xfrm>
            <a:custGeom>
              <a:avLst/>
              <a:gdLst>
                <a:gd name="connsiteX0" fmla="*/ 0 w 2222628"/>
                <a:gd name="connsiteY0" fmla="*/ 964353 h 964353"/>
                <a:gd name="connsiteX1" fmla="*/ 505504 w 2222628"/>
                <a:gd name="connsiteY1" fmla="*/ 0 h 964353"/>
                <a:gd name="connsiteX2" fmla="*/ 2222628 w 2222628"/>
                <a:gd name="connsiteY2" fmla="*/ 0 h 964353"/>
                <a:gd name="connsiteX3" fmla="*/ 1717124 w 2222628"/>
                <a:gd name="connsiteY3" fmla="*/ 964353 h 964353"/>
                <a:gd name="connsiteX4" fmla="*/ 0 w 2222628"/>
                <a:gd name="connsiteY4" fmla="*/ 964353 h 964353"/>
                <a:gd name="connsiteX0-1" fmla="*/ 0 w 2222628"/>
                <a:gd name="connsiteY0-2" fmla="*/ 964353 h 964353"/>
                <a:gd name="connsiteX1-3" fmla="*/ 19729 w 2222628"/>
                <a:gd name="connsiteY1-4" fmla="*/ 0 h 964353"/>
                <a:gd name="connsiteX2-5" fmla="*/ 2222628 w 2222628"/>
                <a:gd name="connsiteY2-6" fmla="*/ 0 h 964353"/>
                <a:gd name="connsiteX3-7" fmla="*/ 1717124 w 2222628"/>
                <a:gd name="connsiteY3-8" fmla="*/ 964353 h 964353"/>
                <a:gd name="connsiteX4-9" fmla="*/ 0 w 2222628"/>
                <a:gd name="connsiteY4-10" fmla="*/ 964353 h 964353"/>
                <a:gd name="connsiteX0-11" fmla="*/ 0 w 2222628"/>
                <a:gd name="connsiteY0-12" fmla="*/ 964353 h 964353"/>
                <a:gd name="connsiteX1-13" fmla="*/ 679 w 2222628"/>
                <a:gd name="connsiteY1-14" fmla="*/ 0 h 964353"/>
                <a:gd name="connsiteX2-15" fmla="*/ 2222628 w 2222628"/>
                <a:gd name="connsiteY2-16" fmla="*/ 0 h 964353"/>
                <a:gd name="connsiteX3-17" fmla="*/ 1717124 w 2222628"/>
                <a:gd name="connsiteY3-18" fmla="*/ 964353 h 964353"/>
                <a:gd name="connsiteX4-19" fmla="*/ 0 w 2222628"/>
                <a:gd name="connsiteY4-20" fmla="*/ 964353 h 9643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222628" h="964353">
                  <a:moveTo>
                    <a:pt x="0" y="964353"/>
                  </a:moveTo>
                  <a:cubicBezTo>
                    <a:pt x="226" y="642902"/>
                    <a:pt x="453" y="321451"/>
                    <a:pt x="679" y="0"/>
                  </a:cubicBezTo>
                  <a:lnTo>
                    <a:pt x="2222628" y="0"/>
                  </a:lnTo>
                  <a:lnTo>
                    <a:pt x="1717124" y="964353"/>
                  </a:lnTo>
                  <a:lnTo>
                    <a:pt x="0" y="964353"/>
                  </a:ln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05" name="TextBox 23"/>
            <p:cNvSpPr txBox="1"/>
            <p:nvPr/>
          </p:nvSpPr>
          <p:spPr>
            <a:xfrm>
              <a:off x="946974" y="234729"/>
              <a:ext cx="2621164" cy="583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 b="1" dirty="0">
                  <a:solidFill>
                    <a:srgbClr val="FFFFFF"/>
                  </a:solidFill>
                  <a:latin typeface="微软雅黑" panose="020B0503020204020204" pitchFamily="34" charset="-122"/>
                </a:rPr>
                <a:t>一、分析背景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4611213" y="862826"/>
              <a:ext cx="6673554" cy="50782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118898" tIns="59449" rIns="118898" bIns="59449" anchor="ctr"/>
            <a:lstStyle/>
            <a:p>
              <a:pPr marL="0" marR="0" lvl="0" indent="0" algn="ctr" defTabSz="11880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185" b="0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" name="文本框 99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07390" y="1424305"/>
            <a:ext cx="655637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台式单功能微波炉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——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线上需求提升，外观迭代加速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99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8025" y="1811655"/>
            <a:ext cx="5626735" cy="3969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R="0" lvl="0" indent="-355600" algn="l" defTabSz="914400" rtl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defRPr/>
              <a:extLst>
                <a:ext uri="{35155182-B16C-46BC-9424-99874614C6A1}">
                  <wpsdc:indentchars xmlns:wpsdc="http://www.wps.cn/officeDocument/2017/drawingmlCustomData" xmlns="" val="-200" checksum="3501742630"/>
                </a:ext>
              </a:extLst>
            </a:pPr>
            <a:r>
              <a:rPr lang="zh-CN" sz="14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14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sz="14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）单功能微波炉需求依旧占主体地位</a:t>
            </a:r>
            <a:endParaRPr lang="zh-CN" altLang="en-US" sz="1400" b="1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R="0" lvl="0" indent="-355600" algn="l" defTabSz="914400" rtl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defRPr/>
              <a:extLst>
                <a:ext uri="{35155182-B16C-46BC-9424-99874614C6A1}">
                  <wpsdc:indentchars xmlns:wpsdc="http://www.wps.cn/officeDocument/2017/drawingmlCustomData" xmlns="" val="-200" checksum="3501742630"/>
                </a:ext>
              </a:extLst>
            </a:pP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在京东电商平台微波炉热销前十榜单上，</a:t>
            </a:r>
            <a:r>
              <a:rPr lang="zh-CN" altLang="en-US" sz="1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超</a:t>
            </a:r>
            <a:r>
              <a:rPr lang="en-US" altLang="zh-CN" sz="1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50%</a:t>
            </a: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的产品为台式单微波功能型号，据奥维云网</a:t>
            </a:r>
            <a:r>
              <a:rPr lang="en-US" altLang="zh-CN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(AVC)</a:t>
            </a: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推总数据显示，</a:t>
            </a:r>
            <a:r>
              <a:rPr lang="en-US" altLang="zh-CN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2026</a:t>
            </a: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年台式单功能微波炉线上市场规模达到</a:t>
            </a:r>
            <a:r>
              <a:rPr lang="en-US" altLang="zh-CN" sz="1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11.37</a:t>
            </a:r>
            <a:r>
              <a:rPr lang="zh-CN" altLang="en-US" sz="1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亿元，</a:t>
            </a: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线上销额同比增长</a:t>
            </a:r>
            <a:r>
              <a:rPr lang="en-US" altLang="zh-CN" sz="1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10.77%</a:t>
            </a: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，需求稳步增长。</a:t>
            </a:r>
          </a:p>
          <a:p>
            <a:pPr marR="0" lvl="0" indent="-355600" algn="l" defTabSz="914400" rtl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defRPr/>
              <a:extLst>
                <a:ext uri="{35155182-B16C-46BC-9424-99874614C6A1}">
                  <wpsdc:indentchars xmlns:wpsdc="http://www.wps.cn/officeDocument/2017/drawingmlCustomData" xmlns="" val="-200" checksum="3501742630"/>
                </a:ext>
              </a:extLst>
            </a:pPr>
            <a:endParaRPr lang="zh-CN" altLang="en-US" sz="14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defRPr/>
            </a:pPr>
            <a:r>
              <a:rPr lang="zh-CN" sz="14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14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sz="14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zh-CN" altLang="en-US" sz="14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外观升级是近年行业发力的重点</a:t>
            </a:r>
          </a:p>
          <a:p>
            <a:pPr marR="0" lvl="0" indent="-355600" algn="l" defTabSz="914400" rtl="0" eaLnBrk="1" fontAlgn="base" latinLnBrk="0" hangingPunct="1">
              <a:lnSpc>
                <a:spcPct val="150000"/>
              </a:lnSpc>
              <a:buClrTx/>
              <a:buSzTx/>
              <a:buFont typeface="Wingdings" panose="05000000000000000000" pitchFamily="2" charset="2"/>
              <a:defRPr/>
              <a:extLst>
                <a:ext uri="{35155182-B16C-46BC-9424-99874614C6A1}">
                  <wpsdc:indentchars xmlns:wpsdc="http://www.wps.cn/officeDocument/2017/drawingmlCustomData" xmlns="" val="-200" checksum="3501742630"/>
                </a:ext>
              </a:extLst>
            </a:pP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对于台式微波炉产品来说，年轻化的设计也让产品更为吸睛，而聚焦</a:t>
            </a:r>
            <a:r>
              <a:rPr lang="zh-CN" altLang="en-US" sz="1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屏幕的升级</a:t>
            </a: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是其中一个重要方向。据奥维云网(AVC)线上监测数据显示，2023年线上台式产品中搭载彩屏的产品销额占比提升0.2%至</a:t>
            </a:r>
            <a:r>
              <a:rPr lang="zh-CN" altLang="en-US" sz="1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3.6%。</a:t>
            </a: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客户对产品外观越来越重视。</a:t>
            </a:r>
          </a:p>
        </p:txBody>
      </p:sp>
      <p:sp>
        <p:nvSpPr>
          <p:cNvPr id="27" name="文本框 26"/>
          <p:cNvSpPr txBox="1"/>
          <p:nvPr>
            <p:custDataLst>
              <p:tags r:id="rId3"/>
            </p:custDataLst>
          </p:nvPr>
        </p:nvSpPr>
        <p:spPr>
          <a:xfrm>
            <a:off x="7965440" y="5637530"/>
            <a:ext cx="30803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图</a:t>
            </a:r>
            <a:r>
              <a:rPr lang="en-US" altLang="zh-CN" sz="1200" dirty="0"/>
              <a:t> </a:t>
            </a:r>
            <a:r>
              <a:rPr lang="zh-CN" altLang="en-US" sz="1200" dirty="0"/>
              <a:t> 台式单微</a:t>
            </a:r>
            <a:r>
              <a:rPr lang="en-US" altLang="zh-CN" sz="1200" dirty="0"/>
              <a:t>-</a:t>
            </a:r>
            <a:r>
              <a:rPr lang="zh-CN" altLang="en-US" sz="1200" dirty="0"/>
              <a:t>线上市场规模趋势图（</a:t>
            </a:r>
            <a:r>
              <a:rPr lang="en-US" altLang="zh-CN" sz="1200" dirty="0"/>
              <a:t>AVC</a:t>
            </a:r>
            <a:r>
              <a:rPr lang="zh-CN" altLang="en-US" sz="1200" dirty="0"/>
              <a:t>）</a:t>
            </a:r>
          </a:p>
        </p:txBody>
      </p:sp>
      <p:graphicFrame>
        <p:nvGraphicFramePr>
          <p:cNvPr id="2" name="图表 1"/>
          <p:cNvGraphicFramePr/>
          <p:nvPr/>
        </p:nvGraphicFramePr>
        <p:xfrm>
          <a:off x="7055485" y="1954530"/>
          <a:ext cx="4572000" cy="3503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F194D2B-3C20-4642-D142-E1F7D237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F15040-2384-4D08-AAD9-8BF47BBA09FA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5" name="组合 3"/>
          <p:cNvGrpSpPr/>
          <p:nvPr/>
        </p:nvGrpSpPr>
        <p:grpSpPr>
          <a:xfrm>
            <a:off x="707573" y="260350"/>
            <a:ext cx="10338252" cy="715963"/>
            <a:chOff x="946974" y="197898"/>
            <a:chExt cx="10337793" cy="715710"/>
          </a:xfrm>
        </p:grpSpPr>
        <p:sp>
          <p:nvSpPr>
            <p:cNvPr id="5" name="Parallelogram 13"/>
            <p:cNvSpPr/>
            <p:nvPr/>
          </p:nvSpPr>
          <p:spPr>
            <a:xfrm>
              <a:off x="947426" y="197898"/>
              <a:ext cx="5078188" cy="715710"/>
            </a:xfrm>
            <a:custGeom>
              <a:avLst/>
              <a:gdLst>
                <a:gd name="connsiteX0" fmla="*/ 0 w 2222628"/>
                <a:gd name="connsiteY0" fmla="*/ 964353 h 964353"/>
                <a:gd name="connsiteX1" fmla="*/ 505504 w 2222628"/>
                <a:gd name="connsiteY1" fmla="*/ 0 h 964353"/>
                <a:gd name="connsiteX2" fmla="*/ 2222628 w 2222628"/>
                <a:gd name="connsiteY2" fmla="*/ 0 h 964353"/>
                <a:gd name="connsiteX3" fmla="*/ 1717124 w 2222628"/>
                <a:gd name="connsiteY3" fmla="*/ 964353 h 964353"/>
                <a:gd name="connsiteX4" fmla="*/ 0 w 2222628"/>
                <a:gd name="connsiteY4" fmla="*/ 964353 h 964353"/>
                <a:gd name="connsiteX0-1" fmla="*/ 0 w 2222628"/>
                <a:gd name="connsiteY0-2" fmla="*/ 964353 h 964353"/>
                <a:gd name="connsiteX1-3" fmla="*/ 19729 w 2222628"/>
                <a:gd name="connsiteY1-4" fmla="*/ 0 h 964353"/>
                <a:gd name="connsiteX2-5" fmla="*/ 2222628 w 2222628"/>
                <a:gd name="connsiteY2-6" fmla="*/ 0 h 964353"/>
                <a:gd name="connsiteX3-7" fmla="*/ 1717124 w 2222628"/>
                <a:gd name="connsiteY3-8" fmla="*/ 964353 h 964353"/>
                <a:gd name="connsiteX4-9" fmla="*/ 0 w 2222628"/>
                <a:gd name="connsiteY4-10" fmla="*/ 964353 h 964353"/>
                <a:gd name="connsiteX0-11" fmla="*/ 0 w 2222628"/>
                <a:gd name="connsiteY0-12" fmla="*/ 964353 h 964353"/>
                <a:gd name="connsiteX1-13" fmla="*/ 679 w 2222628"/>
                <a:gd name="connsiteY1-14" fmla="*/ 0 h 964353"/>
                <a:gd name="connsiteX2-15" fmla="*/ 2222628 w 2222628"/>
                <a:gd name="connsiteY2-16" fmla="*/ 0 h 964353"/>
                <a:gd name="connsiteX3-17" fmla="*/ 1717124 w 2222628"/>
                <a:gd name="connsiteY3-18" fmla="*/ 964353 h 964353"/>
                <a:gd name="connsiteX4-19" fmla="*/ 0 w 2222628"/>
                <a:gd name="connsiteY4-20" fmla="*/ 964353 h 9643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222628" h="964353">
                  <a:moveTo>
                    <a:pt x="0" y="964353"/>
                  </a:moveTo>
                  <a:cubicBezTo>
                    <a:pt x="226" y="642902"/>
                    <a:pt x="453" y="321451"/>
                    <a:pt x="679" y="0"/>
                  </a:cubicBezTo>
                  <a:lnTo>
                    <a:pt x="2222628" y="0"/>
                  </a:lnTo>
                  <a:lnTo>
                    <a:pt x="1717124" y="964353"/>
                  </a:lnTo>
                  <a:lnTo>
                    <a:pt x="0" y="964353"/>
                  </a:ln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05" name="TextBox 23"/>
            <p:cNvSpPr txBox="1"/>
            <p:nvPr/>
          </p:nvSpPr>
          <p:spPr>
            <a:xfrm>
              <a:off x="946974" y="234729"/>
              <a:ext cx="2621164" cy="583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 b="1" dirty="0">
                  <a:solidFill>
                    <a:srgbClr val="FFFFFF"/>
                  </a:solidFill>
                  <a:latin typeface="微软雅黑" panose="020B0503020204020204" pitchFamily="34" charset="-122"/>
                </a:rPr>
                <a:t>一、分析背景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4611213" y="862826"/>
              <a:ext cx="6673554" cy="50782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118898" tIns="59449" rIns="118898" bIns="59449" anchor="ctr"/>
            <a:lstStyle/>
            <a:p>
              <a:pPr marL="0" marR="0" lvl="0" indent="0" algn="ctr" defTabSz="11880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185" b="0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" name="文本框 99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07390" y="1424305"/>
            <a:ext cx="721487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美的小滋味系列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——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把握色彩趋势，引领外观新潮流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文本框 99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08025" y="1811655"/>
            <a:ext cx="5626735" cy="3969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R="0" lvl="0" indent="-355600" algn="l" defTabSz="914400" rtl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defRPr/>
              <a:extLst>
                <a:ext uri="{35155182-B16C-46BC-9424-99874614C6A1}">
                  <wpsdc:indentchars xmlns:wpsdc="http://www.wps.cn/officeDocument/2017/drawingmlCustomData" xmlns="" val="-200" checksum="3501742630"/>
                </a:ext>
              </a:extLst>
            </a:pPr>
            <a:r>
              <a:rPr lang="zh-CN" sz="14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14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sz="14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）引领</a:t>
            </a:r>
            <a:r>
              <a:rPr lang="en-US" altLang="zh-CN" sz="14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14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复古奶油风</a:t>
            </a:r>
            <a:r>
              <a:rPr lang="en-US" altLang="zh-CN" sz="14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4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品类，引领台式微波炉新风向</a:t>
            </a:r>
          </a:p>
          <a:p>
            <a:pPr marR="0" lvl="0" indent="-355600" algn="l" defTabSz="914400" rtl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defRPr/>
              <a:extLst>
                <a:ext uri="{35155182-B16C-46BC-9424-99874614C6A1}">
                  <wpsdc:indentchars xmlns:wpsdc="http://www.wps.cn/officeDocument/2017/drawingmlCustomData" xmlns="" val="-200" checksum="3501742630"/>
                </a:ext>
              </a:extLst>
            </a:pP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美的小滋味系列敏锐捕捉家居</a:t>
            </a:r>
            <a:r>
              <a:rPr lang="en-US" altLang="zh-CN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“</a:t>
            </a:r>
            <a:r>
              <a:rPr lang="zh-CN" altLang="en-US" sz="1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奶油风</a:t>
            </a:r>
            <a:r>
              <a:rPr lang="en-US" altLang="zh-CN" sz="1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”“</a:t>
            </a:r>
            <a:r>
              <a:rPr lang="zh-CN" altLang="en-US" sz="1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复古风</a:t>
            </a:r>
            <a:r>
              <a:rPr lang="en-US" altLang="zh-CN" sz="1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”</a:t>
            </a: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浪潮，以</a:t>
            </a:r>
            <a:r>
              <a:rPr lang="en-US" altLang="zh-CN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“</a:t>
            </a: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奶油杏</a:t>
            </a:r>
            <a:r>
              <a:rPr lang="en-US" altLang="zh-CN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”</a:t>
            </a: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为主色，开发</a:t>
            </a:r>
            <a:r>
              <a:rPr lang="en-US" altLang="zh-CN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“</a:t>
            </a: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奶油小方</a:t>
            </a:r>
            <a:r>
              <a:rPr lang="en-US" altLang="zh-CN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”“</a:t>
            </a: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甜甜圈</a:t>
            </a:r>
            <a:r>
              <a:rPr lang="en-US" altLang="zh-CN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”“</a:t>
            </a: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美拉德</a:t>
            </a:r>
            <a:r>
              <a:rPr lang="en-US" altLang="zh-CN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”“</a:t>
            </a: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薄荷曼波</a:t>
            </a:r>
            <a:r>
              <a:rPr lang="en-US" altLang="zh-CN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”</a:t>
            </a: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四款产品，率先开创了台式微波炉</a:t>
            </a:r>
            <a:r>
              <a:rPr lang="en-US" altLang="zh-CN" sz="1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“</a:t>
            </a:r>
            <a:r>
              <a:rPr lang="zh-CN" altLang="en-US" sz="1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复古奶油风</a:t>
            </a:r>
            <a:r>
              <a:rPr lang="en-US" altLang="zh-CN" sz="1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”</a:t>
            </a:r>
            <a:r>
              <a:rPr lang="zh-CN" altLang="en-US" sz="1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这一全新细分品类。</a:t>
            </a:r>
            <a:endParaRPr lang="zh-CN" altLang="en-US" sz="14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R="0" lvl="0" indent="-355600" algn="l" defTabSz="914400" rtl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defRPr/>
              <a:extLst>
                <a:ext uri="{35155182-B16C-46BC-9424-99874614C6A1}">
                  <wpsdc:indentchars xmlns:wpsdc="http://www.wps.cn/officeDocument/2017/drawingmlCustomData" xmlns="" val="-200" checksum="3501742630"/>
                </a:ext>
              </a:extLst>
            </a:pPr>
            <a:endParaRPr lang="zh-CN" altLang="en-US" sz="14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defRPr/>
            </a:pPr>
            <a:r>
              <a:rPr lang="zh-CN" sz="14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14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sz="14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zh-CN" altLang="en-US" sz="14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品类开创者效应：</a:t>
            </a:r>
            <a:r>
              <a:rPr lang="zh-CN" sz="14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市场验证与竞品跟进</a:t>
            </a:r>
            <a:endParaRPr lang="zh-CN" altLang="en-US" sz="1400" b="1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R="0" lvl="0" indent="-355600" algn="l" defTabSz="914400" rtl="0" eaLnBrk="1" fontAlgn="base" latinLnBrk="0" hangingPunct="1">
              <a:lnSpc>
                <a:spcPct val="150000"/>
              </a:lnSpc>
              <a:buClrTx/>
              <a:buSzTx/>
              <a:buFont typeface="Wingdings" panose="05000000000000000000" pitchFamily="2" charset="2"/>
              <a:defRPr/>
              <a:extLst>
                <a:ext uri="{35155182-B16C-46BC-9424-99874614C6A1}">
                  <wpsdc:indentchars xmlns:wpsdc="http://www.wps.cn/officeDocument/2017/drawingmlCustomData" xmlns="" val="-200" checksum="3501742630"/>
                </a:ext>
              </a:extLst>
            </a:pP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该系列上市累计销量</a:t>
            </a:r>
            <a:r>
              <a:rPr lang="zh-CN" altLang="en-US" sz="1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超</a:t>
            </a:r>
            <a:r>
              <a:rPr lang="en-US" altLang="zh-CN" sz="1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</a:t>
            </a:r>
            <a:r>
              <a:rPr lang="zh-CN" altLang="en-US" sz="1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万台</a:t>
            </a:r>
            <a:r>
              <a:rPr lang="en-US" altLang="zh-CN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1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小红书搜索量排名第一</a:t>
            </a: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，成功验证了</a:t>
            </a:r>
            <a:r>
              <a:rPr lang="en-US" altLang="zh-CN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复古奶油风</a:t>
            </a:r>
            <a:r>
              <a:rPr lang="en-US" altLang="zh-CN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品类的市场价值。目前竞品（如格兰仕）已跟随推出同类风格产品，进一步印证了美的对该品类的定义权和引领地位。作为品类开创者，如何在</a:t>
            </a:r>
            <a:r>
              <a:rPr lang="zh-CN" altLang="en-US" sz="14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保持设计领先的同时，建立质量护城河</a:t>
            </a:r>
            <a:r>
              <a:rPr lang="zh-CN" altLang="en-US" sz="14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、巩固先发优势，是当前的核心命题。</a:t>
            </a:r>
          </a:p>
        </p:txBody>
      </p:sp>
      <p:sp>
        <p:nvSpPr>
          <p:cNvPr id="27" name="文本框 26"/>
          <p:cNvSpPr txBox="1"/>
          <p:nvPr>
            <p:custDataLst>
              <p:tags r:id="rId3"/>
            </p:custDataLst>
          </p:nvPr>
        </p:nvSpPr>
        <p:spPr>
          <a:xfrm>
            <a:off x="8082280" y="5173980"/>
            <a:ext cx="29635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图</a:t>
            </a:r>
            <a:r>
              <a:rPr lang="en-US" altLang="zh-CN" sz="1200" dirty="0"/>
              <a:t> </a:t>
            </a:r>
            <a:r>
              <a:rPr lang="zh-CN" altLang="en-US" sz="1200" dirty="0"/>
              <a:t> 小滋味系列获国际</a:t>
            </a:r>
            <a:r>
              <a:rPr lang="en-US" altLang="zh-CN" sz="1200" dirty="0"/>
              <a:t>CMF</a:t>
            </a:r>
            <a:r>
              <a:rPr lang="zh-CN" altLang="en-US" sz="1200" dirty="0"/>
              <a:t>设计奖</a:t>
            </a:r>
            <a:r>
              <a:rPr lang="en-US" altLang="zh-CN" sz="1200" dirty="0"/>
              <a:t>-</a:t>
            </a:r>
            <a:r>
              <a:rPr lang="zh-CN" altLang="en-US" sz="1200" dirty="0"/>
              <a:t>金奖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8191" y="2254250"/>
            <a:ext cx="4456439" cy="2696845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7C1E037-3357-67D2-2B92-4A38A94C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F15040-2384-4D08-AAD9-8BF47BBA09FA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5" name="组合 3"/>
          <p:cNvGrpSpPr/>
          <p:nvPr/>
        </p:nvGrpSpPr>
        <p:grpSpPr>
          <a:xfrm>
            <a:off x="707573" y="260350"/>
            <a:ext cx="10338252" cy="715963"/>
            <a:chOff x="946974" y="197898"/>
            <a:chExt cx="10337793" cy="715710"/>
          </a:xfrm>
        </p:grpSpPr>
        <p:sp>
          <p:nvSpPr>
            <p:cNvPr id="5" name="Parallelogram 13"/>
            <p:cNvSpPr/>
            <p:nvPr/>
          </p:nvSpPr>
          <p:spPr>
            <a:xfrm>
              <a:off x="947426" y="197898"/>
              <a:ext cx="5078188" cy="715710"/>
            </a:xfrm>
            <a:custGeom>
              <a:avLst/>
              <a:gdLst>
                <a:gd name="connsiteX0" fmla="*/ 0 w 2222628"/>
                <a:gd name="connsiteY0" fmla="*/ 964353 h 964353"/>
                <a:gd name="connsiteX1" fmla="*/ 505504 w 2222628"/>
                <a:gd name="connsiteY1" fmla="*/ 0 h 964353"/>
                <a:gd name="connsiteX2" fmla="*/ 2222628 w 2222628"/>
                <a:gd name="connsiteY2" fmla="*/ 0 h 964353"/>
                <a:gd name="connsiteX3" fmla="*/ 1717124 w 2222628"/>
                <a:gd name="connsiteY3" fmla="*/ 964353 h 964353"/>
                <a:gd name="connsiteX4" fmla="*/ 0 w 2222628"/>
                <a:gd name="connsiteY4" fmla="*/ 964353 h 964353"/>
                <a:gd name="connsiteX0-1" fmla="*/ 0 w 2222628"/>
                <a:gd name="connsiteY0-2" fmla="*/ 964353 h 964353"/>
                <a:gd name="connsiteX1-3" fmla="*/ 19729 w 2222628"/>
                <a:gd name="connsiteY1-4" fmla="*/ 0 h 964353"/>
                <a:gd name="connsiteX2-5" fmla="*/ 2222628 w 2222628"/>
                <a:gd name="connsiteY2-6" fmla="*/ 0 h 964353"/>
                <a:gd name="connsiteX3-7" fmla="*/ 1717124 w 2222628"/>
                <a:gd name="connsiteY3-8" fmla="*/ 964353 h 964353"/>
                <a:gd name="connsiteX4-9" fmla="*/ 0 w 2222628"/>
                <a:gd name="connsiteY4-10" fmla="*/ 964353 h 964353"/>
                <a:gd name="connsiteX0-11" fmla="*/ 0 w 2222628"/>
                <a:gd name="connsiteY0-12" fmla="*/ 964353 h 964353"/>
                <a:gd name="connsiteX1-13" fmla="*/ 679 w 2222628"/>
                <a:gd name="connsiteY1-14" fmla="*/ 0 h 964353"/>
                <a:gd name="connsiteX2-15" fmla="*/ 2222628 w 2222628"/>
                <a:gd name="connsiteY2-16" fmla="*/ 0 h 964353"/>
                <a:gd name="connsiteX3-17" fmla="*/ 1717124 w 2222628"/>
                <a:gd name="connsiteY3-18" fmla="*/ 964353 h 964353"/>
                <a:gd name="connsiteX4-19" fmla="*/ 0 w 2222628"/>
                <a:gd name="connsiteY4-20" fmla="*/ 964353 h 9643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222628" h="964353">
                  <a:moveTo>
                    <a:pt x="0" y="964353"/>
                  </a:moveTo>
                  <a:cubicBezTo>
                    <a:pt x="226" y="642902"/>
                    <a:pt x="453" y="321451"/>
                    <a:pt x="679" y="0"/>
                  </a:cubicBezTo>
                  <a:lnTo>
                    <a:pt x="2222628" y="0"/>
                  </a:lnTo>
                  <a:lnTo>
                    <a:pt x="1717124" y="964353"/>
                  </a:lnTo>
                  <a:lnTo>
                    <a:pt x="0" y="964353"/>
                  </a:ln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05" name="TextBox 23"/>
            <p:cNvSpPr txBox="1"/>
            <p:nvPr/>
          </p:nvSpPr>
          <p:spPr>
            <a:xfrm>
              <a:off x="946974" y="234729"/>
              <a:ext cx="2621164" cy="583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 b="1" dirty="0">
                  <a:solidFill>
                    <a:srgbClr val="FFFFFF"/>
                  </a:solidFill>
                  <a:latin typeface="微软雅黑" panose="020B0503020204020204" pitchFamily="34" charset="-122"/>
                </a:rPr>
                <a:t>一、品类现状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4611213" y="862826"/>
              <a:ext cx="6673554" cy="50782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118898" tIns="59449" rIns="118898" bIns="59449" anchor="ctr"/>
            <a:lstStyle/>
            <a:p>
              <a:pPr marL="0" marR="0" lvl="0" indent="0" algn="ctr" defTabSz="11880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185" b="0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" name="文本框 99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07390" y="1424305"/>
            <a:ext cx="7214870" cy="792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“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复古奶油风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”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市场现状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——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单微波功能为主，两强格局显著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8838162" y="6282072"/>
            <a:ext cx="29635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图</a:t>
            </a:r>
            <a:r>
              <a:rPr lang="en-US" altLang="zh-CN" sz="1200" dirty="0"/>
              <a:t> </a:t>
            </a:r>
            <a:r>
              <a:rPr lang="zh-CN" altLang="en-US" sz="1200" dirty="0"/>
              <a:t> 美的</a:t>
            </a:r>
            <a:r>
              <a:rPr lang="en-US" altLang="zh-CN" sz="1200" dirty="0"/>
              <a:t>VS</a:t>
            </a:r>
            <a:r>
              <a:rPr lang="zh-CN" altLang="en-US" sz="1200" dirty="0"/>
              <a:t>格兰仕：竞争格局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49819A-9B7F-75EC-084E-3E19E9E836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6"/>
          <a:stretch>
            <a:fillRect/>
          </a:stretch>
        </p:blipFill>
        <p:spPr bwMode="auto">
          <a:xfrm>
            <a:off x="7759613" y="1101213"/>
            <a:ext cx="4432387" cy="5055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1EAAC06-06FB-C807-7E5F-37C7EF715C9B}"/>
              </a:ext>
            </a:extLst>
          </p:cNvPr>
          <p:cNvSpPr txBox="1"/>
          <p:nvPr/>
        </p:nvSpPr>
        <p:spPr>
          <a:xfrm>
            <a:off x="1612900" y="191391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</a:rPr>
              <a:t>样本说明：</a:t>
            </a:r>
            <a:r>
              <a:rPr lang="en-US" altLang="zh-CN" sz="1200" dirty="0">
                <a:latin typeface="微软雅黑" panose="020B0503020204020204" pitchFamily="34" charset="-122"/>
              </a:rPr>
              <a:t>2026.3.22 - 2026.4.5</a:t>
            </a:r>
            <a:r>
              <a:rPr lang="zh-CN" altLang="en-US" sz="1200" dirty="0">
                <a:latin typeface="微软雅黑" panose="020B0503020204020204" pitchFamily="34" charset="-122"/>
              </a:rPr>
              <a:t>京东平台累计销量最高的</a:t>
            </a:r>
            <a:r>
              <a:rPr lang="en-US" altLang="zh-CN" sz="1200" dirty="0">
                <a:latin typeface="微软雅黑" panose="020B0503020204020204" pitchFamily="34" charset="-122"/>
              </a:rPr>
              <a:t>18</a:t>
            </a:r>
            <a:r>
              <a:rPr lang="zh-CN" altLang="en-US" sz="1200" dirty="0">
                <a:latin typeface="微软雅黑" panose="020B0503020204020204" pitchFamily="34" charset="-122"/>
              </a:rPr>
              <a:t>款“复古奶油风”产品</a:t>
            </a:r>
            <a:endParaRPr lang="zh-CN" altLang="en-US" sz="1200" dirty="0"/>
          </a:p>
        </p:txBody>
      </p:sp>
      <p:sp>
        <p:nvSpPr>
          <p:cNvPr id="6" name="文本框 99">
            <a:extLst>
              <a:ext uri="{FF2B5EF4-FFF2-40B4-BE49-F238E27FC236}">
                <a16:creationId xmlns:a16="http://schemas.microsoft.com/office/drawing/2014/main" id="{DF64ED1C-BA64-40BF-CB0D-A0C1E6D9A347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08025" y="2167255"/>
            <a:ext cx="6657975" cy="3372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160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R="0" lvl="0" indent="-355600" algn="l" defTabSz="914400" rtl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defRPr/>
              <a:extLst>
                <a:ext uri="{35155182-B16C-46BC-9424-99874614C6A1}">
                  <wpsdc:indentchars xmlns="" xmlns:wpsdc="http://www.wps.cn/officeDocument/2017/drawingmlCustomData" val="-200" checksum="3501742630"/>
                </a:ext>
              </a:extLst>
            </a:pPr>
            <a:r>
              <a:rPr lang="zh-CN" sz="16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16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sz="16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zh-CN" altLang="en-US" sz="16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市场特征</a:t>
            </a:r>
          </a:p>
          <a:p>
            <a:pPr marR="0" lvl="0" indent="-355600" algn="l" defTabSz="914400" rtl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defRPr/>
              <a:extLst>
                <a:ext uri="{35155182-B16C-46BC-9424-99874614C6A1}">
                  <wpsdc:indentchars xmlns="" xmlns:wpsdc="http://www.wps.cn/officeDocument/2017/drawingmlCustomData" val="-200" checksum="3501742630"/>
                </a:ext>
              </a:extLst>
            </a:pPr>
            <a:r>
              <a:rPr lang="zh-CN" altLang="en-US" sz="16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品牌集中：美的与格兰仕各占</a:t>
            </a:r>
            <a:r>
              <a:rPr lang="en-US" altLang="zh-CN" sz="16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9</a:t>
            </a:r>
            <a:r>
              <a:rPr lang="zh-CN" altLang="en-US" sz="16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款，形成</a:t>
            </a:r>
            <a:r>
              <a:rPr lang="zh-CN" altLang="en-US" sz="16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两强格局</a:t>
            </a:r>
          </a:p>
          <a:p>
            <a:pPr marR="0" lvl="0" indent="-355600" algn="l" defTabSz="914400" rtl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defRPr/>
              <a:extLst>
                <a:ext uri="{35155182-B16C-46BC-9424-99874614C6A1}">
                  <wpsdc:indentchars xmlns="" xmlns:wpsdc="http://www.wps.cn/officeDocument/2017/drawingmlCustomData" val="-200" checksum="3501742630"/>
                </a:ext>
              </a:extLst>
            </a:pPr>
            <a:r>
              <a:rPr lang="zh-CN" altLang="en-US" sz="16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价格分层：</a:t>
            </a:r>
            <a:r>
              <a:rPr lang="en-US" altLang="zh-CN" sz="16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299-1590</a:t>
            </a:r>
            <a:r>
              <a:rPr lang="zh-CN" altLang="en-US" sz="16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元，</a:t>
            </a:r>
            <a:r>
              <a:rPr lang="zh-CN" altLang="en-US" sz="16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低端走量</a:t>
            </a:r>
            <a:r>
              <a:rPr lang="zh-CN" altLang="en-US" sz="16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、中高端探索功能集成</a:t>
            </a:r>
          </a:p>
          <a:p>
            <a:pPr marR="0" lvl="0" indent="-355600" algn="l" defTabSz="914400" rtl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defRPr/>
              <a:extLst>
                <a:ext uri="{35155182-B16C-46BC-9424-99874614C6A1}">
                  <wpsdc:indentchars xmlns="" xmlns:wpsdc="http://www.wps.cn/officeDocument/2017/drawingmlCustomData" val="-200" checksum="3501742630"/>
                </a:ext>
              </a:extLst>
            </a:pPr>
            <a:r>
              <a:rPr lang="zh-CN" altLang="en-US" sz="16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功能主流：</a:t>
            </a:r>
            <a:r>
              <a:rPr lang="zh-CN" altLang="en-US" sz="16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纯微波为主</a:t>
            </a:r>
            <a:r>
              <a:rPr lang="zh-CN" altLang="en-US" sz="16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，部分增加“烤”“炸”。</a:t>
            </a:r>
          </a:p>
          <a:p>
            <a:pPr marR="0" lvl="0" indent="-355600" algn="l" defTabSz="914400" rtl="0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defRPr/>
              <a:extLst>
                <a:ext uri="{35155182-B16C-46BC-9424-99874614C6A1}">
                  <wpsdc:indentchars xmlns:wpsdc="http://www.wps.cn/officeDocument/2017/drawingmlCustomData" xmlns="" val="-200" checksum="3501742630"/>
                </a:ext>
              </a:extLst>
            </a:pPr>
            <a:endParaRPr lang="zh-CN" altLang="en-US" sz="16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defRPr/>
            </a:pPr>
            <a:r>
              <a:rPr lang="zh-CN" sz="16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16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sz="16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zh-CN" altLang="en-US" sz="16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结果判断</a:t>
            </a:r>
            <a:endParaRPr lang="en-US" altLang="zh-CN" sz="1600" b="1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defRPr/>
            </a:pPr>
            <a:r>
              <a:rPr lang="zh-CN" altLang="en-US" sz="16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该品类已从美的“小滋味”系列首创，走向多品牌跟进、外观同质化。</a:t>
            </a:r>
            <a:r>
              <a:rPr lang="zh-CN" altLang="en-US" sz="16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品质成为差异化新战场。</a:t>
            </a:r>
            <a:endParaRPr lang="zh-CN" altLang="en-US" sz="16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93AECD-4082-3BE5-51AF-EF0855288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F15040-2384-4D08-AAD9-8BF47BBA09FA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文本框 99"/>
          <p:cNvSpPr txBox="1">
            <a:spLocks noChangeArrowheads="1"/>
          </p:cNvSpPr>
          <p:nvPr/>
        </p:nvSpPr>
        <p:spPr bwMode="auto">
          <a:xfrm>
            <a:off x="5437563" y="1774998"/>
            <a:ext cx="5328920" cy="3351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主要问题</a:t>
            </a:r>
            <a:endParaRPr kumimoji="0" lang="zh-CN" sz="20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. 不同品牌的“复古奶油风”产品呈现什么样的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评论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反馈差异。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2. CMF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设计（复古奶油风设计）带来的新质量风险是什么？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05130" y="222885"/>
            <a:ext cx="11146790" cy="716280"/>
            <a:chOff x="638" y="351"/>
            <a:chExt cx="17554" cy="1128"/>
          </a:xfrm>
        </p:grpSpPr>
        <p:sp>
          <p:nvSpPr>
            <p:cNvPr id="2" name="Parallelogram 13"/>
            <p:cNvSpPr/>
            <p:nvPr/>
          </p:nvSpPr>
          <p:spPr>
            <a:xfrm>
              <a:off x="639" y="351"/>
              <a:ext cx="8623" cy="1128"/>
            </a:xfrm>
            <a:custGeom>
              <a:avLst/>
              <a:gdLst>
                <a:gd name="connsiteX0" fmla="*/ 0 w 2222628"/>
                <a:gd name="connsiteY0" fmla="*/ 964353 h 964353"/>
                <a:gd name="connsiteX1" fmla="*/ 505504 w 2222628"/>
                <a:gd name="connsiteY1" fmla="*/ 0 h 964353"/>
                <a:gd name="connsiteX2" fmla="*/ 2222628 w 2222628"/>
                <a:gd name="connsiteY2" fmla="*/ 0 h 964353"/>
                <a:gd name="connsiteX3" fmla="*/ 1717124 w 2222628"/>
                <a:gd name="connsiteY3" fmla="*/ 964353 h 964353"/>
                <a:gd name="connsiteX4" fmla="*/ 0 w 2222628"/>
                <a:gd name="connsiteY4" fmla="*/ 964353 h 964353"/>
                <a:gd name="connsiteX0-1" fmla="*/ 0 w 2222628"/>
                <a:gd name="connsiteY0-2" fmla="*/ 964353 h 964353"/>
                <a:gd name="connsiteX1-3" fmla="*/ 19729 w 2222628"/>
                <a:gd name="connsiteY1-4" fmla="*/ 0 h 964353"/>
                <a:gd name="connsiteX2-5" fmla="*/ 2222628 w 2222628"/>
                <a:gd name="connsiteY2-6" fmla="*/ 0 h 964353"/>
                <a:gd name="connsiteX3-7" fmla="*/ 1717124 w 2222628"/>
                <a:gd name="connsiteY3-8" fmla="*/ 964353 h 964353"/>
                <a:gd name="connsiteX4-9" fmla="*/ 0 w 2222628"/>
                <a:gd name="connsiteY4-10" fmla="*/ 964353 h 964353"/>
                <a:gd name="connsiteX0-11" fmla="*/ 0 w 2222628"/>
                <a:gd name="connsiteY0-12" fmla="*/ 964353 h 964353"/>
                <a:gd name="connsiteX1-13" fmla="*/ 679 w 2222628"/>
                <a:gd name="connsiteY1-14" fmla="*/ 0 h 964353"/>
                <a:gd name="connsiteX2-15" fmla="*/ 2222628 w 2222628"/>
                <a:gd name="connsiteY2-16" fmla="*/ 0 h 964353"/>
                <a:gd name="connsiteX3-17" fmla="*/ 1717124 w 2222628"/>
                <a:gd name="connsiteY3-18" fmla="*/ 964353 h 964353"/>
                <a:gd name="connsiteX4-19" fmla="*/ 0 w 2222628"/>
                <a:gd name="connsiteY4-20" fmla="*/ 964353 h 9643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222628" h="964353">
                  <a:moveTo>
                    <a:pt x="0" y="964353"/>
                  </a:moveTo>
                  <a:cubicBezTo>
                    <a:pt x="226" y="642902"/>
                    <a:pt x="453" y="321451"/>
                    <a:pt x="679" y="0"/>
                  </a:cubicBezTo>
                  <a:lnTo>
                    <a:pt x="2222628" y="0"/>
                  </a:lnTo>
                  <a:lnTo>
                    <a:pt x="1717124" y="964353"/>
                  </a:lnTo>
                  <a:lnTo>
                    <a:pt x="0" y="964353"/>
                  </a:ln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05" name="TextBox 23"/>
            <p:cNvSpPr txBox="1"/>
            <p:nvPr/>
          </p:nvSpPr>
          <p:spPr>
            <a:xfrm>
              <a:off x="638" y="409"/>
              <a:ext cx="6521" cy="9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 b="1" dirty="0">
                  <a:solidFill>
                    <a:srgbClr val="FFFFFF"/>
                  </a:solidFill>
                  <a:latin typeface="微软雅黑" panose="020B0503020204020204" pitchFamily="34" charset="-122"/>
                </a:rPr>
                <a:t>一、主要问题</a:t>
              </a:r>
            </a:p>
          </p:txBody>
        </p:sp>
        <p:sp>
          <p:nvSpPr>
            <p:cNvPr id="3" name="矩形 2"/>
            <p:cNvSpPr/>
            <p:nvPr/>
          </p:nvSpPr>
          <p:spPr>
            <a:xfrm>
              <a:off x="6860" y="1399"/>
              <a:ext cx="11332" cy="8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118898" tIns="59449" rIns="118898" bIns="59449" anchor="ctr"/>
            <a:lstStyle/>
            <a:p>
              <a:pPr marL="0" marR="0" lvl="0" indent="0" algn="ctr" defTabSz="11880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185" b="0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8208" name="图片 82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388" y="1684350"/>
            <a:ext cx="3198712" cy="4076915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F8CDEA-59EB-EB9D-CBBC-9E0375EC4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F15040-2384-4D08-AAD9-8BF47BBA09FA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55133" y="5923783"/>
            <a:ext cx="6108640" cy="744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选择京东自营平台“复古奶油风”销量前</a:t>
            </a:r>
            <a:r>
              <a:rPr lang="en-US" altLang="zh-CN" sz="1500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altLang="en-US" sz="1500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的两款爆款产品，</a:t>
            </a:r>
            <a:endParaRPr lang="en-US" altLang="zh-CN" sz="1500" dirty="0">
              <a:solidFill>
                <a:srgbClr val="002060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二者款式接近，都为主流单微波，品牌不同，适合对比分析。</a:t>
            </a:r>
            <a:endParaRPr lang="en-US" altLang="zh-CN" sz="1500" dirty="0">
              <a:solidFill>
                <a:srgbClr val="002060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05130" y="222885"/>
            <a:ext cx="11146790" cy="716280"/>
            <a:chOff x="638" y="351"/>
            <a:chExt cx="17554" cy="1128"/>
          </a:xfrm>
        </p:grpSpPr>
        <p:sp>
          <p:nvSpPr>
            <p:cNvPr id="4" name="Parallelogram 13"/>
            <p:cNvSpPr/>
            <p:nvPr/>
          </p:nvSpPr>
          <p:spPr>
            <a:xfrm>
              <a:off x="639" y="351"/>
              <a:ext cx="8623" cy="1128"/>
            </a:xfrm>
            <a:custGeom>
              <a:avLst/>
              <a:gdLst>
                <a:gd name="connsiteX0" fmla="*/ 0 w 2222628"/>
                <a:gd name="connsiteY0" fmla="*/ 964353 h 964353"/>
                <a:gd name="connsiteX1" fmla="*/ 505504 w 2222628"/>
                <a:gd name="connsiteY1" fmla="*/ 0 h 964353"/>
                <a:gd name="connsiteX2" fmla="*/ 2222628 w 2222628"/>
                <a:gd name="connsiteY2" fmla="*/ 0 h 964353"/>
                <a:gd name="connsiteX3" fmla="*/ 1717124 w 2222628"/>
                <a:gd name="connsiteY3" fmla="*/ 964353 h 964353"/>
                <a:gd name="connsiteX4" fmla="*/ 0 w 2222628"/>
                <a:gd name="connsiteY4" fmla="*/ 964353 h 964353"/>
                <a:gd name="connsiteX0-1" fmla="*/ 0 w 2222628"/>
                <a:gd name="connsiteY0-2" fmla="*/ 964353 h 964353"/>
                <a:gd name="connsiteX1-3" fmla="*/ 19729 w 2222628"/>
                <a:gd name="connsiteY1-4" fmla="*/ 0 h 964353"/>
                <a:gd name="connsiteX2-5" fmla="*/ 2222628 w 2222628"/>
                <a:gd name="connsiteY2-6" fmla="*/ 0 h 964353"/>
                <a:gd name="connsiteX3-7" fmla="*/ 1717124 w 2222628"/>
                <a:gd name="connsiteY3-8" fmla="*/ 964353 h 964353"/>
                <a:gd name="connsiteX4-9" fmla="*/ 0 w 2222628"/>
                <a:gd name="connsiteY4-10" fmla="*/ 964353 h 964353"/>
                <a:gd name="connsiteX0-11" fmla="*/ 0 w 2222628"/>
                <a:gd name="connsiteY0-12" fmla="*/ 964353 h 964353"/>
                <a:gd name="connsiteX1-13" fmla="*/ 679 w 2222628"/>
                <a:gd name="connsiteY1-14" fmla="*/ 0 h 964353"/>
                <a:gd name="connsiteX2-15" fmla="*/ 2222628 w 2222628"/>
                <a:gd name="connsiteY2-16" fmla="*/ 0 h 964353"/>
                <a:gd name="connsiteX3-17" fmla="*/ 1717124 w 2222628"/>
                <a:gd name="connsiteY3-18" fmla="*/ 964353 h 964353"/>
                <a:gd name="connsiteX4-19" fmla="*/ 0 w 2222628"/>
                <a:gd name="connsiteY4-20" fmla="*/ 964353 h 9643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222628" h="964353">
                  <a:moveTo>
                    <a:pt x="0" y="964353"/>
                  </a:moveTo>
                  <a:cubicBezTo>
                    <a:pt x="226" y="642902"/>
                    <a:pt x="453" y="321451"/>
                    <a:pt x="679" y="0"/>
                  </a:cubicBezTo>
                  <a:lnTo>
                    <a:pt x="2222628" y="0"/>
                  </a:lnTo>
                  <a:lnTo>
                    <a:pt x="1717124" y="964353"/>
                  </a:lnTo>
                  <a:lnTo>
                    <a:pt x="0" y="964353"/>
                  </a:ln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05" name="TextBox 23"/>
            <p:cNvSpPr txBox="1"/>
            <p:nvPr/>
          </p:nvSpPr>
          <p:spPr>
            <a:xfrm>
              <a:off x="638" y="409"/>
              <a:ext cx="6521" cy="9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 b="1" dirty="0">
                  <a:solidFill>
                    <a:srgbClr val="FFFFFF"/>
                  </a:solidFill>
                  <a:latin typeface="微软雅黑" panose="020B0503020204020204" pitchFamily="34" charset="-122"/>
                </a:rPr>
                <a:t>二、数据和方法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6860" y="1399"/>
              <a:ext cx="11332" cy="8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118898" tIns="59449" rIns="118898" bIns="59449" anchor="ctr"/>
            <a:lstStyle/>
            <a:p>
              <a:pPr marL="0" marR="0" lvl="0" indent="0" algn="ctr" defTabSz="11880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185" b="0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4" name="文本框 99"/>
          <p:cNvSpPr txBox="1">
            <a:spLocks noChangeArrowheads="1"/>
          </p:cNvSpPr>
          <p:nvPr/>
        </p:nvSpPr>
        <p:spPr bwMode="auto">
          <a:xfrm>
            <a:off x="801688" y="955675"/>
            <a:ext cx="4984750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defRPr/>
            </a:pPr>
            <a:r>
              <a:rPr lang="en-US" altLang="zh-CN" sz="24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1.</a:t>
            </a:r>
            <a:r>
              <a:rPr lang="zh-CN" altLang="en-US" sz="24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本品竞品选品</a:t>
            </a:r>
          </a:p>
        </p:txBody>
      </p:sp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2282650" y="5590085"/>
            <a:ext cx="3253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图</a:t>
            </a:r>
            <a:r>
              <a:rPr lang="en-US" altLang="zh-CN" sz="1400" dirty="0"/>
              <a:t> </a:t>
            </a:r>
            <a:r>
              <a:rPr lang="zh-CN" altLang="en-US" sz="1400" dirty="0"/>
              <a:t> 奶油复古风产品竞品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904C91B3-52D6-12BA-FEBF-380FA833FA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422003"/>
              </p:ext>
            </p:extLst>
          </p:nvPr>
        </p:nvGraphicFramePr>
        <p:xfrm>
          <a:off x="801686" y="1668949"/>
          <a:ext cx="5079683" cy="38493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6275">
                  <a:extLst>
                    <a:ext uri="{9D8B030D-6E8A-4147-A177-3AD203B41FA5}">
                      <a16:colId xmlns:a16="http://schemas.microsoft.com/office/drawing/2014/main" val="1461599315"/>
                    </a:ext>
                  </a:extLst>
                </a:gridCol>
                <a:gridCol w="1936955">
                  <a:extLst>
                    <a:ext uri="{9D8B030D-6E8A-4147-A177-3AD203B41FA5}">
                      <a16:colId xmlns:a16="http://schemas.microsoft.com/office/drawing/2014/main" val="3669400645"/>
                    </a:ext>
                  </a:extLst>
                </a:gridCol>
                <a:gridCol w="2066453">
                  <a:extLst>
                    <a:ext uri="{9D8B030D-6E8A-4147-A177-3AD203B41FA5}">
                      <a16:colId xmlns:a16="http://schemas.microsoft.com/office/drawing/2014/main" val="161437240"/>
                    </a:ext>
                  </a:extLst>
                </a:gridCol>
              </a:tblGrid>
              <a:tr h="3143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销量排名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05297531"/>
                  </a:ext>
                </a:extLst>
              </a:tr>
              <a:tr h="3143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品牌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</a:rPr>
                        <a:t>格兰仕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</a:rPr>
                        <a:t>美的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01861269"/>
                  </a:ext>
                </a:extLst>
              </a:tr>
              <a:tr h="58935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产品名称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GPV20-KJ1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M2H1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43744537"/>
                  </a:ext>
                </a:extLst>
              </a:tr>
              <a:tr h="3143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拿货价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effectLst/>
                        </a:rPr>
                        <a:t>399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effectLst/>
                        </a:rPr>
                        <a:t>400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34060587"/>
                  </a:ext>
                </a:extLst>
              </a:tr>
              <a:tr h="3143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微波功率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800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800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57388430"/>
                  </a:ext>
                </a:extLst>
              </a:tr>
              <a:tr h="3143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容量规格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20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 dirty="0">
                          <a:effectLst/>
                        </a:rPr>
                        <a:t>20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2048614"/>
                  </a:ext>
                </a:extLst>
              </a:tr>
              <a:tr h="3143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功能数量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</a:rPr>
                        <a:t>微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</a:rPr>
                        <a:t>微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23588937"/>
                  </a:ext>
                </a:extLst>
              </a:tr>
              <a:tr h="4965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店铺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格兰仕京东自营旗舰店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美的京东自营旗舰店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47368058"/>
                  </a:ext>
                </a:extLst>
              </a:tr>
              <a:tr h="8774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设计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0006236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C0B1FB61-F2CA-3ED5-C7DC-C528DD892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7539" y="4146733"/>
            <a:ext cx="1777050" cy="177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96E64FE-CA3E-05E1-6BC0-745F40DED6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454" y="4192585"/>
            <a:ext cx="1777050" cy="1777050"/>
          </a:xfrm>
          <a:prstGeom prst="rect">
            <a:avLst/>
          </a:prstGeom>
        </p:spPr>
      </p:pic>
      <p:sp>
        <p:nvSpPr>
          <p:cNvPr id="17" name="文本框 99">
            <a:extLst>
              <a:ext uri="{FF2B5EF4-FFF2-40B4-BE49-F238E27FC236}">
                <a16:creationId xmlns:a16="http://schemas.microsoft.com/office/drawing/2014/main" id="{98F195F4-9793-5FFE-3715-7F07532FE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955674"/>
            <a:ext cx="2524627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defRPr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en-US" altLang="zh-CN" sz="24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评论数据获取</a:t>
            </a:r>
            <a:endParaRPr lang="zh-CN" altLang="en-US" sz="2400" b="1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E84E0AF-644E-9880-24F8-C7F9AA07876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8287"/>
          <a:stretch>
            <a:fillRect/>
          </a:stretch>
        </p:blipFill>
        <p:spPr>
          <a:xfrm>
            <a:off x="7358313" y="1710016"/>
            <a:ext cx="2608860" cy="3771417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3C8FD5FD-EA42-B81C-A0B9-C6D9D68175DB}"/>
              </a:ext>
            </a:extLst>
          </p:cNvPr>
          <p:cNvSpPr txBox="1"/>
          <p:nvPr/>
        </p:nvSpPr>
        <p:spPr>
          <a:xfrm>
            <a:off x="6427331" y="5980922"/>
            <a:ext cx="4702786" cy="767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运用</a:t>
            </a:r>
            <a:r>
              <a:rPr lang="en-US" altLang="zh-CN" sz="1500" dirty="0" err="1">
                <a:solidFill>
                  <a:srgbClr val="002060"/>
                </a:solidFill>
                <a:latin typeface="微软雅黑" panose="020B0503020204020204" pitchFamily="34" charset="-122"/>
              </a:rPr>
              <a:t>drissionpage</a:t>
            </a:r>
            <a:r>
              <a:rPr lang="zh-CN" altLang="en-US" sz="1500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，模拟用户浏览，各抓取最新的</a:t>
            </a:r>
            <a:r>
              <a:rPr lang="en-US" altLang="zh-CN" sz="1500" b="1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200</a:t>
            </a:r>
            <a:r>
              <a:rPr lang="zh-CN" altLang="en-US" sz="1500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条评论，输出评价数据字典</a:t>
            </a:r>
            <a:endParaRPr lang="zh-CN" altLang="en-US" sz="1500" noProof="0" dirty="0">
              <a:solidFill>
                <a:srgbClr val="002060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F3A0604-6CD8-4BFE-B546-D90B204C429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085549" y="5621068"/>
            <a:ext cx="1173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图</a:t>
            </a:r>
            <a:r>
              <a:rPr lang="en-US" altLang="zh-CN" sz="1400" dirty="0"/>
              <a:t> </a:t>
            </a:r>
            <a:r>
              <a:rPr lang="zh-CN" altLang="en-US" sz="1400" dirty="0"/>
              <a:t> 京东评价</a:t>
            </a:r>
          </a:p>
        </p:txBody>
      </p:sp>
      <p:sp>
        <p:nvSpPr>
          <p:cNvPr id="21" name="灯片编号占位符 20">
            <a:extLst>
              <a:ext uri="{FF2B5EF4-FFF2-40B4-BE49-F238E27FC236}">
                <a16:creationId xmlns:a16="http://schemas.microsoft.com/office/drawing/2014/main" id="{291D3DC5-8A9E-D008-965D-525A5783D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F15040-2384-4D08-AAD9-8BF47BBA09FA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10B94-6C6C-3E43-8DAD-C7E84EDC1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AD5B4DE-1B71-2389-E4DD-C35DBAF3C4E7}"/>
              </a:ext>
            </a:extLst>
          </p:cNvPr>
          <p:cNvSpPr txBox="1"/>
          <p:nvPr/>
        </p:nvSpPr>
        <p:spPr>
          <a:xfrm>
            <a:off x="948055" y="6200483"/>
            <a:ext cx="8612505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</a:t>
            </a:r>
            <a:r>
              <a:rPr lang="en-US" altLang="zh-CN" sz="1500" dirty="0" err="1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jieba</a:t>
            </a:r>
            <a:r>
              <a:rPr lang="zh-CN" altLang="en-US" sz="1500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库对文本进行分词，定义关键词词典，提取核心关键词，然后对评论进行情感和业务分类</a:t>
            </a:r>
            <a:endParaRPr lang="en-US" altLang="zh-CN" sz="1500" dirty="0">
              <a:solidFill>
                <a:srgbClr val="002060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310835F-FCB2-1CAC-CEF0-EF6C71DAF63F}"/>
              </a:ext>
            </a:extLst>
          </p:cNvPr>
          <p:cNvGrpSpPr/>
          <p:nvPr/>
        </p:nvGrpSpPr>
        <p:grpSpPr>
          <a:xfrm>
            <a:off x="405130" y="222885"/>
            <a:ext cx="11146790" cy="716280"/>
            <a:chOff x="638" y="351"/>
            <a:chExt cx="17554" cy="1128"/>
          </a:xfrm>
        </p:grpSpPr>
        <p:sp>
          <p:nvSpPr>
            <p:cNvPr id="4" name="Parallelogram 13">
              <a:extLst>
                <a:ext uri="{FF2B5EF4-FFF2-40B4-BE49-F238E27FC236}">
                  <a16:creationId xmlns:a16="http://schemas.microsoft.com/office/drawing/2014/main" id="{57131D1A-7158-F29B-642E-AEDB88EC13DD}"/>
                </a:ext>
              </a:extLst>
            </p:cNvPr>
            <p:cNvSpPr/>
            <p:nvPr/>
          </p:nvSpPr>
          <p:spPr>
            <a:xfrm>
              <a:off x="639" y="351"/>
              <a:ext cx="8623" cy="1128"/>
            </a:xfrm>
            <a:custGeom>
              <a:avLst/>
              <a:gdLst>
                <a:gd name="connsiteX0" fmla="*/ 0 w 2222628"/>
                <a:gd name="connsiteY0" fmla="*/ 964353 h 964353"/>
                <a:gd name="connsiteX1" fmla="*/ 505504 w 2222628"/>
                <a:gd name="connsiteY1" fmla="*/ 0 h 964353"/>
                <a:gd name="connsiteX2" fmla="*/ 2222628 w 2222628"/>
                <a:gd name="connsiteY2" fmla="*/ 0 h 964353"/>
                <a:gd name="connsiteX3" fmla="*/ 1717124 w 2222628"/>
                <a:gd name="connsiteY3" fmla="*/ 964353 h 964353"/>
                <a:gd name="connsiteX4" fmla="*/ 0 w 2222628"/>
                <a:gd name="connsiteY4" fmla="*/ 964353 h 964353"/>
                <a:gd name="connsiteX0-1" fmla="*/ 0 w 2222628"/>
                <a:gd name="connsiteY0-2" fmla="*/ 964353 h 964353"/>
                <a:gd name="connsiteX1-3" fmla="*/ 19729 w 2222628"/>
                <a:gd name="connsiteY1-4" fmla="*/ 0 h 964353"/>
                <a:gd name="connsiteX2-5" fmla="*/ 2222628 w 2222628"/>
                <a:gd name="connsiteY2-6" fmla="*/ 0 h 964353"/>
                <a:gd name="connsiteX3-7" fmla="*/ 1717124 w 2222628"/>
                <a:gd name="connsiteY3-8" fmla="*/ 964353 h 964353"/>
                <a:gd name="connsiteX4-9" fmla="*/ 0 w 2222628"/>
                <a:gd name="connsiteY4-10" fmla="*/ 964353 h 964353"/>
                <a:gd name="connsiteX0-11" fmla="*/ 0 w 2222628"/>
                <a:gd name="connsiteY0-12" fmla="*/ 964353 h 964353"/>
                <a:gd name="connsiteX1-13" fmla="*/ 679 w 2222628"/>
                <a:gd name="connsiteY1-14" fmla="*/ 0 h 964353"/>
                <a:gd name="connsiteX2-15" fmla="*/ 2222628 w 2222628"/>
                <a:gd name="connsiteY2-16" fmla="*/ 0 h 964353"/>
                <a:gd name="connsiteX3-17" fmla="*/ 1717124 w 2222628"/>
                <a:gd name="connsiteY3-18" fmla="*/ 964353 h 964353"/>
                <a:gd name="connsiteX4-19" fmla="*/ 0 w 2222628"/>
                <a:gd name="connsiteY4-20" fmla="*/ 964353 h 9643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222628" h="964353">
                  <a:moveTo>
                    <a:pt x="0" y="964353"/>
                  </a:moveTo>
                  <a:cubicBezTo>
                    <a:pt x="226" y="642902"/>
                    <a:pt x="453" y="321451"/>
                    <a:pt x="679" y="0"/>
                  </a:cubicBezTo>
                  <a:lnTo>
                    <a:pt x="2222628" y="0"/>
                  </a:lnTo>
                  <a:lnTo>
                    <a:pt x="1717124" y="964353"/>
                  </a:lnTo>
                  <a:lnTo>
                    <a:pt x="0" y="964353"/>
                  </a:ln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05" name="TextBox 23">
              <a:extLst>
                <a:ext uri="{FF2B5EF4-FFF2-40B4-BE49-F238E27FC236}">
                  <a16:creationId xmlns:a16="http://schemas.microsoft.com/office/drawing/2014/main" id="{57C44B6D-065C-0F91-B6FD-77AF1F649044}"/>
                </a:ext>
              </a:extLst>
            </p:cNvPr>
            <p:cNvSpPr txBox="1"/>
            <p:nvPr/>
          </p:nvSpPr>
          <p:spPr>
            <a:xfrm>
              <a:off x="638" y="409"/>
              <a:ext cx="6521" cy="9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 b="1" dirty="0">
                  <a:solidFill>
                    <a:srgbClr val="FFFFFF"/>
                  </a:solidFill>
                  <a:latin typeface="微软雅黑" panose="020B0503020204020204" pitchFamily="34" charset="-122"/>
                </a:rPr>
                <a:t>二、数据和方法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E41E950-858A-97AB-7E9A-7AAA555ED3C3}"/>
                </a:ext>
              </a:extLst>
            </p:cNvPr>
            <p:cNvSpPr/>
            <p:nvPr/>
          </p:nvSpPr>
          <p:spPr>
            <a:xfrm>
              <a:off x="6860" y="1399"/>
              <a:ext cx="11332" cy="8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118898" tIns="59449" rIns="118898" bIns="59449" anchor="ctr"/>
            <a:lstStyle/>
            <a:p>
              <a:pPr marL="0" marR="0" lvl="0" indent="0" algn="ctr" defTabSz="11880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185" b="0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4" name="文本框 99">
            <a:extLst>
              <a:ext uri="{FF2B5EF4-FFF2-40B4-BE49-F238E27FC236}">
                <a16:creationId xmlns:a16="http://schemas.microsoft.com/office/drawing/2014/main" id="{976EA603-0F0A-4907-EB02-B22263146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688" y="955675"/>
            <a:ext cx="4984750" cy="58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defRPr/>
            </a:pP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en-US" altLang="zh-CN" sz="24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.</a:t>
            </a:r>
            <a:r>
              <a:rPr lang="zh-CN" altLang="en-US" sz="24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文本词频分析和业务分类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2F6FA0A-E2BB-7560-F567-A4F5DF4AA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709741"/>
              </p:ext>
            </p:extLst>
          </p:nvPr>
        </p:nvGraphicFramePr>
        <p:xfrm>
          <a:off x="968837" y="1717471"/>
          <a:ext cx="4984750" cy="3875447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996720">
                  <a:extLst>
                    <a:ext uri="{9D8B030D-6E8A-4147-A177-3AD203B41FA5}">
                      <a16:colId xmlns:a16="http://schemas.microsoft.com/office/drawing/2014/main" val="2479138568"/>
                    </a:ext>
                  </a:extLst>
                </a:gridCol>
                <a:gridCol w="1410785">
                  <a:extLst>
                    <a:ext uri="{9D8B030D-6E8A-4147-A177-3AD203B41FA5}">
                      <a16:colId xmlns:a16="http://schemas.microsoft.com/office/drawing/2014/main" val="3395166326"/>
                    </a:ext>
                  </a:extLst>
                </a:gridCol>
                <a:gridCol w="2577245">
                  <a:extLst>
                    <a:ext uri="{9D8B030D-6E8A-4147-A177-3AD203B41FA5}">
                      <a16:colId xmlns:a16="http://schemas.microsoft.com/office/drawing/2014/main" val="4021509834"/>
                    </a:ext>
                  </a:extLst>
                </a:gridCol>
              </a:tblGrid>
              <a:tr h="2901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字段名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40" marR="7240" marT="724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字段说明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40" marR="7240" marT="724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可选标签 </a:t>
                      </a:r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/ </a:t>
                      </a:r>
                      <a:r>
                        <a:rPr lang="zh-CN" alt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规则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40" marR="7240" marT="7240" marB="0" anchor="ctr"/>
                </a:tc>
                <a:extLst>
                  <a:ext uri="{0D108BD9-81ED-4DB2-BD59-A6C34878D82A}">
                    <a16:rowId xmlns:a16="http://schemas.microsoft.com/office/drawing/2014/main" val="1903399541"/>
                  </a:ext>
                </a:extLst>
              </a:tr>
              <a:tr h="2901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comment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40" marR="7240" marT="724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评论原文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40" marR="7240" marT="724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用户原始评价文本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40" marR="7240" marT="7240" marB="0" anchor="ctr"/>
                </a:tc>
                <a:extLst>
                  <a:ext uri="{0D108BD9-81ED-4DB2-BD59-A6C34878D82A}">
                    <a16:rowId xmlns:a16="http://schemas.microsoft.com/office/drawing/2014/main" val="3979592380"/>
                  </a:ext>
                </a:extLst>
              </a:tr>
              <a:tr h="4320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emotion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40" marR="7240" marT="724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情感标签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40" marR="7240" marT="724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好评 </a:t>
                      </a:r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/ </a:t>
                      </a: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差评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40" marR="7240" marT="7240" marB="0" anchor="ctr"/>
                </a:tc>
                <a:extLst>
                  <a:ext uri="{0D108BD9-81ED-4DB2-BD59-A6C34878D82A}">
                    <a16:rowId xmlns:a16="http://schemas.microsoft.com/office/drawing/2014/main" val="3527266715"/>
                  </a:ext>
                </a:extLst>
              </a:tr>
              <a:tr h="19925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category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40" marR="7240" marT="724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业务分类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40" marR="7240" marT="724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设计 </a:t>
                      </a:r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 </a:t>
                      </a: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颜值风格</a:t>
                      </a:r>
                      <a:endParaRPr lang="en-US" altLang="zh-CN" sz="16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设计 </a:t>
                      </a:r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 </a:t>
                      </a: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质感工艺</a:t>
                      </a:r>
                      <a:endParaRPr lang="en-US" altLang="zh-CN" sz="16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设计 </a:t>
                      </a:r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 </a:t>
                      </a: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外观瑕疵</a:t>
                      </a:r>
                      <a:endParaRPr lang="en-US" altLang="zh-CN" sz="16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功能质量</a:t>
                      </a:r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使用体验</a:t>
                      </a:r>
                      <a:endParaRPr lang="en-US" altLang="zh-CN" sz="16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功能质量</a:t>
                      </a:r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功能异常</a:t>
                      </a:r>
                      <a:endParaRPr lang="en-US" altLang="zh-CN" sz="16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服务物流 </a:t>
                      </a:r>
                      <a:r>
                        <a:rPr lang="en-US" altLang="zh-CN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-</a:t>
                      </a: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服务体验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40" marR="7240" marT="7240" marB="0" anchor="ctr"/>
                </a:tc>
                <a:extLst>
                  <a:ext uri="{0D108BD9-81ED-4DB2-BD59-A6C34878D82A}">
                    <a16:rowId xmlns:a16="http://schemas.microsoft.com/office/drawing/2014/main" val="2448647294"/>
                  </a:ext>
                </a:extLst>
              </a:tr>
              <a:tr h="2901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keyword1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40" marR="7240" marT="724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核心关键词 </a:t>
                      </a:r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40" marR="7240" marT="724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从右方词典提取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40" marR="7240" marT="7240" marB="0" anchor="ctr"/>
                </a:tc>
                <a:extLst>
                  <a:ext uri="{0D108BD9-81ED-4DB2-BD59-A6C34878D82A}">
                    <a16:rowId xmlns:a16="http://schemas.microsoft.com/office/drawing/2014/main" val="400066914"/>
                  </a:ext>
                </a:extLst>
              </a:tr>
              <a:tr h="2901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keyword2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40" marR="7240" marT="724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核心关键词 </a:t>
                      </a:r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40" marR="7240" marT="724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从右方词典提取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40" marR="7240" marT="7240" marB="0" anchor="ctr"/>
                </a:tc>
                <a:extLst>
                  <a:ext uri="{0D108BD9-81ED-4DB2-BD59-A6C34878D82A}">
                    <a16:rowId xmlns:a16="http://schemas.microsoft.com/office/drawing/2014/main" val="756118265"/>
                  </a:ext>
                </a:extLst>
              </a:tr>
              <a:tr h="2901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keyword3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40" marR="7240" marT="724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核心关键词 </a:t>
                      </a:r>
                      <a:r>
                        <a:rPr lang="en-US" altLang="zh-CN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altLang="zh-CN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40" marR="7240" marT="724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从右方词典提取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240" marR="7240" marT="7240" marB="0" anchor="ctr"/>
                </a:tc>
                <a:extLst>
                  <a:ext uri="{0D108BD9-81ED-4DB2-BD59-A6C34878D82A}">
                    <a16:rowId xmlns:a16="http://schemas.microsoft.com/office/drawing/2014/main" val="574738246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23E7D38F-2A45-F5C7-2835-641458047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20832"/>
              </p:ext>
            </p:extLst>
          </p:nvPr>
        </p:nvGraphicFramePr>
        <p:xfrm>
          <a:off x="6405564" y="1717471"/>
          <a:ext cx="5549627" cy="3877565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552292">
                  <a:extLst>
                    <a:ext uri="{9D8B030D-6E8A-4147-A177-3AD203B41FA5}">
                      <a16:colId xmlns:a16="http://schemas.microsoft.com/office/drawing/2014/main" val="484825281"/>
                    </a:ext>
                  </a:extLst>
                </a:gridCol>
                <a:gridCol w="2997335">
                  <a:extLst>
                    <a:ext uri="{9D8B030D-6E8A-4147-A177-3AD203B41FA5}">
                      <a16:colId xmlns:a16="http://schemas.microsoft.com/office/drawing/2014/main" val="2649589418"/>
                    </a:ext>
                  </a:extLst>
                </a:gridCol>
              </a:tblGrid>
              <a:tr h="284145"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zh-CN" altLang="en-US" sz="1400" b="1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分类</a:t>
                      </a:r>
                      <a:endParaRPr lang="zh-CN" altLang="en-US" sz="1400" b="1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06" marR="4906" marT="4906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zh-CN" altLang="en-US" sz="1400" b="1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关键词</a:t>
                      </a:r>
                      <a:endParaRPr lang="zh-CN" altLang="en-US" sz="1400" b="1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06" marR="4906" marT="4906" marB="0" anchor="ctr"/>
                </a:tc>
                <a:extLst>
                  <a:ext uri="{0D108BD9-81ED-4DB2-BD59-A6C34878D82A}">
                    <a16:rowId xmlns:a16="http://schemas.microsoft.com/office/drawing/2014/main" val="2295635807"/>
                  </a:ext>
                </a:extLst>
              </a:tr>
              <a:tr h="8143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颜值风格</a:t>
                      </a:r>
                      <a:endParaRPr lang="zh-CN" altLang="en-US" sz="16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06" marR="4906" marT="49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颜值高、好看、奶油风、奶白、复古、高级、百搭、颜色正、高级感、柔和、耐看</a:t>
                      </a:r>
                      <a:endParaRPr lang="zh-CN" altLang="en-US" sz="16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06" marR="4906" marT="4906" marB="0" anchor="ctr"/>
                </a:tc>
                <a:extLst>
                  <a:ext uri="{0D108BD9-81ED-4DB2-BD59-A6C34878D82A}">
                    <a16:rowId xmlns:a16="http://schemas.microsoft.com/office/drawing/2014/main" val="3639138673"/>
                  </a:ext>
                </a:extLst>
              </a:tr>
              <a:tr h="6117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质感工艺</a:t>
                      </a:r>
                      <a:endParaRPr lang="zh-CN" altLang="en-US" sz="16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06" marR="4906" marT="49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质感好、做工细、细腻、精致、细节好、做工扎实、手感好</a:t>
                      </a:r>
                      <a:endParaRPr lang="zh-CN" altLang="en-US" sz="16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06" marR="4906" marT="4906" marB="0" anchor="ctr"/>
                </a:tc>
                <a:extLst>
                  <a:ext uri="{0D108BD9-81ED-4DB2-BD59-A6C34878D82A}">
                    <a16:rowId xmlns:a16="http://schemas.microsoft.com/office/drawing/2014/main" val="24924544"/>
                  </a:ext>
                </a:extLst>
              </a:tr>
              <a:tr h="8143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外观瑕疵</a:t>
                      </a:r>
                      <a:endParaRPr lang="zh-CN" altLang="en-US" sz="16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06" marR="4906" marT="49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缝隙大、缝隙明显、色差、易脏、塑料感、面板薄、质感一般、划痕、做工一般</a:t>
                      </a:r>
                      <a:endParaRPr lang="zh-CN" altLang="en-US" sz="16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06" marR="4906" marT="4906" marB="0" anchor="ctr"/>
                </a:tc>
                <a:extLst>
                  <a:ext uri="{0D108BD9-81ED-4DB2-BD59-A6C34878D82A}">
                    <a16:rowId xmlns:a16="http://schemas.microsoft.com/office/drawing/2014/main" val="3862940819"/>
                  </a:ext>
                </a:extLst>
              </a:tr>
              <a:tr h="6117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功能使用体验</a:t>
                      </a:r>
                      <a:endParaRPr lang="zh-CN" altLang="en-US" sz="16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06" marR="4906" marT="49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加热快、噪音小、加热均匀、好清洁、操作简单、容量合适</a:t>
                      </a:r>
                      <a:endParaRPr lang="zh-CN" altLang="en-US" sz="16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06" marR="4906" marT="4906" marB="0" anchor="ctr"/>
                </a:tc>
                <a:extLst>
                  <a:ext uri="{0D108BD9-81ED-4DB2-BD59-A6C34878D82A}">
                    <a16:rowId xmlns:a16="http://schemas.microsoft.com/office/drawing/2014/main" val="2317241407"/>
                  </a:ext>
                </a:extLst>
              </a:tr>
              <a:tr h="2480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功能异常</a:t>
                      </a:r>
                      <a:endParaRPr lang="zh-CN" altLang="en-US" sz="16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06" marR="4906" marT="49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噪音大、加热不均、异味</a:t>
                      </a:r>
                      <a:endParaRPr lang="zh-CN" altLang="en-US" sz="16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06" marR="4906" marT="4906" marB="0" anchor="ctr"/>
                </a:tc>
                <a:extLst>
                  <a:ext uri="{0D108BD9-81ED-4DB2-BD59-A6C34878D82A}">
                    <a16:rowId xmlns:a16="http://schemas.microsoft.com/office/drawing/2014/main" val="3291409268"/>
                  </a:ext>
                </a:extLst>
              </a:tr>
              <a:tr h="4911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服务物流</a:t>
                      </a:r>
                      <a:endParaRPr lang="zh-CN" altLang="en-US" sz="16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06" marR="4906" marT="490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6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  <a:t>物流快、包装好、性价比高、实惠、发货快</a:t>
                      </a:r>
                      <a:endParaRPr lang="zh-CN" altLang="en-US" sz="16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906" marR="4906" marT="4906" marB="0" anchor="ctr"/>
                </a:tc>
                <a:extLst>
                  <a:ext uri="{0D108BD9-81ED-4DB2-BD59-A6C34878D82A}">
                    <a16:rowId xmlns:a16="http://schemas.microsoft.com/office/drawing/2014/main" val="3058956731"/>
                  </a:ext>
                </a:extLst>
              </a:tr>
            </a:tbl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9FBD60F3-71F5-CD00-E4FD-1DA907A179B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407318" y="5742812"/>
            <a:ext cx="1992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图</a:t>
            </a:r>
            <a:r>
              <a:rPr lang="en-US" altLang="zh-CN" sz="1400" dirty="0"/>
              <a:t> </a:t>
            </a:r>
            <a:r>
              <a:rPr lang="zh-CN" altLang="en-US" sz="1400" dirty="0"/>
              <a:t> 评论数据字典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68CBD98-8155-1200-3F48-90EF0C6C3DD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395162" y="5742811"/>
            <a:ext cx="1992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图</a:t>
            </a:r>
            <a:r>
              <a:rPr lang="en-US" altLang="zh-CN" sz="1400" dirty="0"/>
              <a:t> </a:t>
            </a:r>
            <a:r>
              <a:rPr lang="zh-CN" altLang="en-US" sz="1400" dirty="0"/>
              <a:t> 关键词词典</a:t>
            </a:r>
          </a:p>
        </p:txBody>
      </p:sp>
    </p:spTree>
    <p:extLst>
      <p:ext uri="{BB962C8B-B14F-4D97-AF65-F5344CB8AC3E}">
        <p14:creationId xmlns:p14="http://schemas.microsoft.com/office/powerpoint/2010/main" val="3787513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DBC4-40CB-FBE8-2518-EE175A746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311390D7-5269-A2C9-27A7-DC485DD768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40"/>
          <a:stretch>
            <a:fillRect/>
          </a:stretch>
        </p:blipFill>
        <p:spPr bwMode="auto">
          <a:xfrm>
            <a:off x="6307457" y="3045292"/>
            <a:ext cx="5349904" cy="3812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99">
            <a:extLst>
              <a:ext uri="{FF2B5EF4-FFF2-40B4-BE49-F238E27FC236}">
                <a16:creationId xmlns:a16="http://schemas.microsoft.com/office/drawing/2014/main" id="{216ACC80-4BF3-8E8A-0EC4-FB47F5E9C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315" y="986155"/>
            <a:ext cx="5269230" cy="54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50000"/>
              </a:lnSpc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en-US" sz="2200" b="1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评论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</a:rPr>
              <a:t>反馈分析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</a:rPr>
              <a:t>维度分类视角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AE799E-E6A7-66B5-9FED-6DE839AB3DE6}"/>
              </a:ext>
            </a:extLst>
          </p:cNvPr>
          <p:cNvSpPr txBox="1"/>
          <p:nvPr/>
        </p:nvSpPr>
        <p:spPr>
          <a:xfrm>
            <a:off x="615315" y="1516892"/>
            <a:ext cx="4168775" cy="746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sz="16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</a:rPr>
              <a:t>①</a:t>
            </a:r>
            <a:r>
              <a:rPr lang="zh-CN" altLang="en-US" sz="1600" b="1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情感分类维度</a:t>
            </a:r>
            <a:endParaRPr lang="zh-CN" altLang="en-US" sz="16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1400" b="0" i="0" u="none" strike="noStrike" kern="1200" cap="none" spc="0" normalizeH="0" baseline="0" dirty="0">
                <a:solidFill>
                  <a:srgbClr val="002060"/>
                </a:solidFill>
                <a:latin typeface="微软雅黑" panose="020B0503020204020204" pitchFamily="34" charset="-122"/>
                <a:ea typeface="华文中宋" panose="02010600040101010101" pitchFamily="2" charset="-122"/>
                <a:sym typeface="+mn-ea"/>
              </a:rPr>
              <a:t>可以看到，最新的</a:t>
            </a:r>
            <a:r>
              <a:rPr kumimoji="0" lang="en-US" altLang="zh-CN" sz="1400" b="0" i="0" u="none" strike="noStrike" kern="1200" cap="none" spc="0" normalizeH="0" baseline="0" dirty="0">
                <a:solidFill>
                  <a:srgbClr val="002060"/>
                </a:solidFill>
                <a:latin typeface="微软雅黑" panose="020B0503020204020204" pitchFamily="34" charset="-122"/>
                <a:ea typeface="华文中宋" panose="02010600040101010101" pitchFamily="2" charset="-122"/>
                <a:sym typeface="+mn-ea"/>
              </a:rPr>
              <a:t>200</a:t>
            </a:r>
            <a:r>
              <a:rPr kumimoji="0" lang="zh-CN" altLang="en-US" sz="1400" b="0" i="0" u="none" strike="noStrike" kern="1200" cap="none" spc="0" normalizeH="0" baseline="0" dirty="0">
                <a:solidFill>
                  <a:srgbClr val="002060"/>
                </a:solidFill>
                <a:latin typeface="微软雅黑" panose="020B0503020204020204" pitchFamily="34" charset="-122"/>
                <a:ea typeface="华文中宋" panose="02010600040101010101" pitchFamily="2" charset="-122"/>
                <a:sym typeface="+mn-ea"/>
              </a:rPr>
              <a:t>条评论都以好评为主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  <a:sym typeface="微软雅黑" panose="020B0503020204020204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1AFF8C0-7188-47BD-C165-07F7F5B2FFCE}"/>
              </a:ext>
            </a:extLst>
          </p:cNvPr>
          <p:cNvGrpSpPr/>
          <p:nvPr/>
        </p:nvGrpSpPr>
        <p:grpSpPr>
          <a:xfrm>
            <a:off x="405130" y="222885"/>
            <a:ext cx="11146790" cy="716280"/>
            <a:chOff x="638" y="351"/>
            <a:chExt cx="17554" cy="1128"/>
          </a:xfrm>
        </p:grpSpPr>
        <p:sp>
          <p:nvSpPr>
            <p:cNvPr id="4" name="Parallelogram 13">
              <a:extLst>
                <a:ext uri="{FF2B5EF4-FFF2-40B4-BE49-F238E27FC236}">
                  <a16:creationId xmlns:a16="http://schemas.microsoft.com/office/drawing/2014/main" id="{B2BF88EE-8BA9-4A18-0C6A-0FC2FEB79697}"/>
                </a:ext>
              </a:extLst>
            </p:cNvPr>
            <p:cNvSpPr/>
            <p:nvPr/>
          </p:nvSpPr>
          <p:spPr>
            <a:xfrm>
              <a:off x="639" y="351"/>
              <a:ext cx="8623" cy="1128"/>
            </a:xfrm>
            <a:custGeom>
              <a:avLst/>
              <a:gdLst>
                <a:gd name="connsiteX0" fmla="*/ 0 w 2222628"/>
                <a:gd name="connsiteY0" fmla="*/ 964353 h 964353"/>
                <a:gd name="connsiteX1" fmla="*/ 505504 w 2222628"/>
                <a:gd name="connsiteY1" fmla="*/ 0 h 964353"/>
                <a:gd name="connsiteX2" fmla="*/ 2222628 w 2222628"/>
                <a:gd name="connsiteY2" fmla="*/ 0 h 964353"/>
                <a:gd name="connsiteX3" fmla="*/ 1717124 w 2222628"/>
                <a:gd name="connsiteY3" fmla="*/ 964353 h 964353"/>
                <a:gd name="connsiteX4" fmla="*/ 0 w 2222628"/>
                <a:gd name="connsiteY4" fmla="*/ 964353 h 964353"/>
                <a:gd name="connsiteX0-1" fmla="*/ 0 w 2222628"/>
                <a:gd name="connsiteY0-2" fmla="*/ 964353 h 964353"/>
                <a:gd name="connsiteX1-3" fmla="*/ 19729 w 2222628"/>
                <a:gd name="connsiteY1-4" fmla="*/ 0 h 964353"/>
                <a:gd name="connsiteX2-5" fmla="*/ 2222628 w 2222628"/>
                <a:gd name="connsiteY2-6" fmla="*/ 0 h 964353"/>
                <a:gd name="connsiteX3-7" fmla="*/ 1717124 w 2222628"/>
                <a:gd name="connsiteY3-8" fmla="*/ 964353 h 964353"/>
                <a:gd name="connsiteX4-9" fmla="*/ 0 w 2222628"/>
                <a:gd name="connsiteY4-10" fmla="*/ 964353 h 964353"/>
                <a:gd name="connsiteX0-11" fmla="*/ 0 w 2222628"/>
                <a:gd name="connsiteY0-12" fmla="*/ 964353 h 964353"/>
                <a:gd name="connsiteX1-13" fmla="*/ 679 w 2222628"/>
                <a:gd name="connsiteY1-14" fmla="*/ 0 h 964353"/>
                <a:gd name="connsiteX2-15" fmla="*/ 2222628 w 2222628"/>
                <a:gd name="connsiteY2-16" fmla="*/ 0 h 964353"/>
                <a:gd name="connsiteX3-17" fmla="*/ 1717124 w 2222628"/>
                <a:gd name="connsiteY3-18" fmla="*/ 964353 h 964353"/>
                <a:gd name="connsiteX4-19" fmla="*/ 0 w 2222628"/>
                <a:gd name="connsiteY4-20" fmla="*/ 964353 h 9643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222628" h="964353">
                  <a:moveTo>
                    <a:pt x="0" y="964353"/>
                  </a:moveTo>
                  <a:cubicBezTo>
                    <a:pt x="226" y="642902"/>
                    <a:pt x="453" y="321451"/>
                    <a:pt x="679" y="0"/>
                  </a:cubicBezTo>
                  <a:lnTo>
                    <a:pt x="2222628" y="0"/>
                  </a:lnTo>
                  <a:lnTo>
                    <a:pt x="1717124" y="964353"/>
                  </a:lnTo>
                  <a:lnTo>
                    <a:pt x="0" y="964353"/>
                  </a:ln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05" name="TextBox 23">
              <a:extLst>
                <a:ext uri="{FF2B5EF4-FFF2-40B4-BE49-F238E27FC236}">
                  <a16:creationId xmlns:a16="http://schemas.microsoft.com/office/drawing/2014/main" id="{AC23E7C2-E983-2850-B519-82679B77DFD4}"/>
                </a:ext>
              </a:extLst>
            </p:cNvPr>
            <p:cNvSpPr txBox="1"/>
            <p:nvPr/>
          </p:nvSpPr>
          <p:spPr>
            <a:xfrm>
              <a:off x="638" y="409"/>
              <a:ext cx="6521" cy="9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 b="1" dirty="0">
                  <a:solidFill>
                    <a:srgbClr val="FFFFFF"/>
                  </a:solidFill>
                  <a:latin typeface="微软雅黑" panose="020B0503020204020204" pitchFamily="34" charset="-122"/>
                </a:rPr>
                <a:t>三、竞品对比分析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5EA4FC6-9295-8226-30AA-0C0043823025}"/>
                </a:ext>
              </a:extLst>
            </p:cNvPr>
            <p:cNvSpPr/>
            <p:nvPr/>
          </p:nvSpPr>
          <p:spPr>
            <a:xfrm>
              <a:off x="6860" y="1399"/>
              <a:ext cx="11332" cy="8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118898" tIns="59449" rIns="118898" bIns="59449" anchor="ctr"/>
            <a:lstStyle/>
            <a:p>
              <a:pPr marL="0" marR="0" lvl="0" indent="0" algn="ctr" defTabSz="11880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185" b="0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6E83DF46-72C9-08A2-EB72-A28A11BCA17A}"/>
              </a:ext>
            </a:extLst>
          </p:cNvPr>
          <p:cNvSpPr txBox="1"/>
          <p:nvPr/>
        </p:nvSpPr>
        <p:spPr>
          <a:xfrm>
            <a:off x="5801033" y="1526496"/>
            <a:ext cx="6390967" cy="1393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②</a:t>
            </a:r>
            <a:r>
              <a:rPr lang="zh-CN" altLang="en-US" sz="1600" b="1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</a:rPr>
              <a:t>业务分类</a:t>
            </a:r>
            <a:r>
              <a:rPr lang="zh-CN" altLang="en-US" sz="1600" b="1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维度</a:t>
            </a:r>
            <a:endParaRPr lang="zh-CN" altLang="en-US" sz="16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lvl="0" indent="-285750" eaLnBrk="1" hangingPunct="1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华文中宋" panose="02010600040101010101" pitchFamily="2" charset="-122"/>
              </a:rPr>
              <a:t>格兰仕的用户呈现出明显的‘颜值偏好’特征；而美的用户品质质量与功能细节的提及比例显著更高。这说明在二者设计相似的情况下，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华文中宋" panose="02010600040101010101" pitchFamily="2" charset="-122"/>
              </a:rPr>
              <a:t>美的凭借更稳健的功能口碑赢得了用户的认可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华文中宋" panose="02010600040101010101" pitchFamily="2" charset="-122"/>
              </a:rPr>
              <a:t>。</a:t>
            </a:r>
            <a:endParaRPr lang="en-US" altLang="zh-CN" sz="1400" dirty="0">
              <a:solidFill>
                <a:srgbClr val="002060"/>
              </a:solidFill>
              <a:latin typeface="微软雅黑" panose="020B0503020204020204" pitchFamily="34" charset="-122"/>
              <a:ea typeface="华文中宋" panose="0201060004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F25B7EE-754C-796E-A104-ED45930FC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F15040-2384-4D08-AAD9-8BF47BBA09FA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40B54A5-4824-5E1C-3127-DFD5FFAD98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011"/>
          <a:stretch>
            <a:fillRect/>
          </a:stretch>
        </p:blipFill>
        <p:spPr bwMode="auto">
          <a:xfrm>
            <a:off x="405130" y="3144743"/>
            <a:ext cx="4830758" cy="3713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6399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4D496CD-E89B-CB32-27F6-B17251B91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505" y="2737935"/>
            <a:ext cx="8750710" cy="3422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99"/>
          <p:cNvSpPr txBox="1">
            <a:spLocks noChangeArrowheads="1"/>
          </p:cNvSpPr>
          <p:nvPr/>
        </p:nvSpPr>
        <p:spPr bwMode="auto">
          <a:xfrm>
            <a:off x="615315" y="986155"/>
            <a:ext cx="5269230" cy="54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50000"/>
              </a:lnSpc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sz="2200" b="1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</a:rPr>
              <a:t>.</a:t>
            </a:r>
            <a:r>
              <a:rPr lang="zh-CN" altLang="en-US" sz="2200" b="1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评论反馈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</a:rPr>
              <a:t>分析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</a:rPr>
              <a:t>关键词视角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7715" y="1508760"/>
            <a:ext cx="11301382" cy="746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关键词词云图</a:t>
            </a:r>
            <a:r>
              <a:rPr lang="en-US" altLang="zh-CN" sz="1600" b="1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华文中宋" panose="02010600040101010101" pitchFamily="2" charset="-122"/>
              </a:rPr>
              <a:t>可以看到二者的最新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华文中宋" panose="02010600040101010101" pitchFamily="2" charset="-122"/>
              </a:rPr>
              <a:t>200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华文中宋" panose="02010600040101010101" pitchFamily="2" charset="-122"/>
              </a:rPr>
              <a:t>条评论关键词词云相近，都聚焦于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华文中宋" panose="02010600040101010101" pitchFamily="2" charset="-122"/>
              </a:rPr>
              <a:t>颜值、操作、加热速度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华文中宋" panose="02010600040101010101" pitchFamily="2" charset="-122"/>
              </a:rPr>
              <a:t>等特征。</a:t>
            </a:r>
            <a:endParaRPr lang="en-US" altLang="zh-CN" sz="1400" dirty="0">
              <a:solidFill>
                <a:srgbClr val="002060"/>
              </a:solidFill>
              <a:latin typeface="微软雅黑" panose="020B0503020204020204" pitchFamily="34" charset="-122"/>
              <a:ea typeface="华文中宋" panose="0201060004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05130" y="222885"/>
            <a:ext cx="11146790" cy="716280"/>
            <a:chOff x="638" y="351"/>
            <a:chExt cx="17554" cy="1128"/>
          </a:xfrm>
        </p:grpSpPr>
        <p:sp>
          <p:nvSpPr>
            <p:cNvPr id="4" name="Parallelogram 13"/>
            <p:cNvSpPr/>
            <p:nvPr/>
          </p:nvSpPr>
          <p:spPr>
            <a:xfrm>
              <a:off x="639" y="351"/>
              <a:ext cx="8623" cy="1128"/>
            </a:xfrm>
            <a:custGeom>
              <a:avLst/>
              <a:gdLst>
                <a:gd name="connsiteX0" fmla="*/ 0 w 2222628"/>
                <a:gd name="connsiteY0" fmla="*/ 964353 h 964353"/>
                <a:gd name="connsiteX1" fmla="*/ 505504 w 2222628"/>
                <a:gd name="connsiteY1" fmla="*/ 0 h 964353"/>
                <a:gd name="connsiteX2" fmla="*/ 2222628 w 2222628"/>
                <a:gd name="connsiteY2" fmla="*/ 0 h 964353"/>
                <a:gd name="connsiteX3" fmla="*/ 1717124 w 2222628"/>
                <a:gd name="connsiteY3" fmla="*/ 964353 h 964353"/>
                <a:gd name="connsiteX4" fmla="*/ 0 w 2222628"/>
                <a:gd name="connsiteY4" fmla="*/ 964353 h 964353"/>
                <a:gd name="connsiteX0-1" fmla="*/ 0 w 2222628"/>
                <a:gd name="connsiteY0-2" fmla="*/ 964353 h 964353"/>
                <a:gd name="connsiteX1-3" fmla="*/ 19729 w 2222628"/>
                <a:gd name="connsiteY1-4" fmla="*/ 0 h 964353"/>
                <a:gd name="connsiteX2-5" fmla="*/ 2222628 w 2222628"/>
                <a:gd name="connsiteY2-6" fmla="*/ 0 h 964353"/>
                <a:gd name="connsiteX3-7" fmla="*/ 1717124 w 2222628"/>
                <a:gd name="connsiteY3-8" fmla="*/ 964353 h 964353"/>
                <a:gd name="connsiteX4-9" fmla="*/ 0 w 2222628"/>
                <a:gd name="connsiteY4-10" fmla="*/ 964353 h 964353"/>
                <a:gd name="connsiteX0-11" fmla="*/ 0 w 2222628"/>
                <a:gd name="connsiteY0-12" fmla="*/ 964353 h 964353"/>
                <a:gd name="connsiteX1-13" fmla="*/ 679 w 2222628"/>
                <a:gd name="connsiteY1-14" fmla="*/ 0 h 964353"/>
                <a:gd name="connsiteX2-15" fmla="*/ 2222628 w 2222628"/>
                <a:gd name="connsiteY2-16" fmla="*/ 0 h 964353"/>
                <a:gd name="connsiteX3-17" fmla="*/ 1717124 w 2222628"/>
                <a:gd name="connsiteY3-18" fmla="*/ 964353 h 964353"/>
                <a:gd name="connsiteX4-19" fmla="*/ 0 w 2222628"/>
                <a:gd name="connsiteY4-20" fmla="*/ 964353 h 9643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222628" h="964353">
                  <a:moveTo>
                    <a:pt x="0" y="964353"/>
                  </a:moveTo>
                  <a:cubicBezTo>
                    <a:pt x="226" y="642902"/>
                    <a:pt x="453" y="321451"/>
                    <a:pt x="679" y="0"/>
                  </a:cubicBezTo>
                  <a:lnTo>
                    <a:pt x="2222628" y="0"/>
                  </a:lnTo>
                  <a:lnTo>
                    <a:pt x="1717124" y="964353"/>
                  </a:lnTo>
                  <a:lnTo>
                    <a:pt x="0" y="964353"/>
                  </a:ln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05" name="TextBox 23"/>
            <p:cNvSpPr txBox="1"/>
            <p:nvPr/>
          </p:nvSpPr>
          <p:spPr>
            <a:xfrm>
              <a:off x="638" y="409"/>
              <a:ext cx="6521" cy="9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 b="1" dirty="0">
                  <a:solidFill>
                    <a:srgbClr val="FFFFFF"/>
                  </a:solidFill>
                  <a:latin typeface="微软雅黑" panose="020B0503020204020204" pitchFamily="34" charset="-122"/>
                </a:rPr>
                <a:t>三、竞品对比分析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6860" y="1399"/>
              <a:ext cx="11332" cy="8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118898" tIns="59449" rIns="118898" bIns="59449" anchor="ctr"/>
            <a:lstStyle/>
            <a:p>
              <a:pPr marL="0" marR="0" lvl="0" indent="0" algn="ctr" defTabSz="11880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185" b="0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4545965" y="6202461"/>
            <a:ext cx="35001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</a:rPr>
              <a:t>图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US" altLang="zh-CN" sz="1400" dirty="0"/>
              <a:t> </a:t>
            </a:r>
            <a:r>
              <a:rPr lang="zh-CN" altLang="en-US" sz="1400" dirty="0"/>
              <a:t>美的</a:t>
            </a:r>
            <a:r>
              <a:rPr lang="en-US" altLang="zh-CN" sz="1400" dirty="0"/>
              <a:t>M2H1</a:t>
            </a:r>
            <a:r>
              <a:rPr lang="en-US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400" dirty="0"/>
              <a:t>VS  </a:t>
            </a:r>
            <a:r>
              <a:rPr lang="zh-CN" altLang="en-US" sz="1400" dirty="0"/>
              <a:t>格兰仕</a:t>
            </a:r>
            <a:r>
              <a:rPr lang="en-US" altLang="zh-CN" sz="1400" dirty="0"/>
              <a:t>GPV20-KJ1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889B6268-80A0-EA59-81DF-989795762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F15040-2384-4D08-AAD9-8BF47BBA09FA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2FE46-4357-C28F-49A6-AC7395942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B515550C-FB27-EB54-3764-BAEA6A019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570" y="2364283"/>
            <a:ext cx="9499600" cy="4174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99">
            <a:extLst>
              <a:ext uri="{FF2B5EF4-FFF2-40B4-BE49-F238E27FC236}">
                <a16:creationId xmlns:a16="http://schemas.microsoft.com/office/drawing/2014/main" id="{D00BB88D-3C1B-1BC8-5184-1CA49FFAF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315" y="986155"/>
            <a:ext cx="5269230" cy="54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algn="l" defTabSz="914400" rtl="0" eaLnBrk="1" fontAlgn="base" latinLnBrk="0" hangingPunct="1">
              <a:lnSpc>
                <a:spcPct val="150000"/>
              </a:lnSpc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sz="2200" b="1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</a:rPr>
              <a:t>.</a:t>
            </a:r>
            <a:r>
              <a:rPr lang="zh-CN" altLang="en-US" sz="2200" b="1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评论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</a:rPr>
              <a:t>反馈分析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cs typeface="微软雅黑" panose="020B0503020204020204" pitchFamily="34" charset="-122"/>
              </a:rPr>
              <a:t>质量特征视角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EC0150-C0FA-63C8-10BD-AB3318B10B05}"/>
              </a:ext>
            </a:extLst>
          </p:cNvPr>
          <p:cNvSpPr txBox="1"/>
          <p:nvPr/>
        </p:nvSpPr>
        <p:spPr>
          <a:xfrm>
            <a:off x="767715" y="1508760"/>
            <a:ext cx="11301382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00206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质量特征词提取</a:t>
            </a:r>
            <a:endParaRPr lang="en-US" altLang="zh-CN" sz="1600" b="1" dirty="0">
              <a:solidFill>
                <a:srgbClr val="00206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华文中宋" panose="02010600040101010101" pitchFamily="2" charset="-122"/>
              </a:rPr>
              <a:t>筛选业务维度为“功能质量</a:t>
            </a:r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华文中宋" panose="02010600040101010101" pitchFamily="2" charset="-122"/>
              </a:rPr>
              <a:t>-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华文中宋" panose="02010600040101010101" pitchFamily="2" charset="-122"/>
              </a:rPr>
              <a:t>使用体验”的评论，提取特征词，可以发现用户主要关注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华文中宋" panose="02010600040101010101" pitchFamily="2" charset="-122"/>
              </a:rPr>
              <a:t>转盘加热功能模块、旋钮、噪音</a:t>
            </a:r>
            <a:r>
              <a:rPr lang="zh-CN" altLang="en-US" sz="1400" dirty="0">
                <a:solidFill>
                  <a:srgbClr val="002060"/>
                </a:solidFill>
                <a:latin typeface="微软雅黑" panose="020B0503020204020204" pitchFamily="34" charset="-122"/>
                <a:ea typeface="华文中宋" panose="02010600040101010101" pitchFamily="2" charset="-122"/>
              </a:rPr>
              <a:t>等质量因素。</a:t>
            </a:r>
            <a:endParaRPr lang="en-US" altLang="zh-CN" sz="1400" dirty="0">
              <a:solidFill>
                <a:srgbClr val="002060"/>
              </a:solidFill>
              <a:latin typeface="微软雅黑" panose="020B0503020204020204" pitchFamily="34" charset="-122"/>
              <a:ea typeface="华文中宋" panose="02010600040101010101" pitchFamily="2" charset="-122"/>
            </a:endParaRPr>
          </a:p>
          <a:p>
            <a:endParaRPr lang="zh-CN" altLang="en-US" sz="14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3D96CE4-AE87-89A0-C63F-8D3000A81F26}"/>
              </a:ext>
            </a:extLst>
          </p:cNvPr>
          <p:cNvGrpSpPr/>
          <p:nvPr/>
        </p:nvGrpSpPr>
        <p:grpSpPr>
          <a:xfrm>
            <a:off x="405130" y="222885"/>
            <a:ext cx="11146790" cy="716280"/>
            <a:chOff x="638" y="351"/>
            <a:chExt cx="17554" cy="1128"/>
          </a:xfrm>
        </p:grpSpPr>
        <p:sp>
          <p:nvSpPr>
            <p:cNvPr id="4" name="Parallelogram 13">
              <a:extLst>
                <a:ext uri="{FF2B5EF4-FFF2-40B4-BE49-F238E27FC236}">
                  <a16:creationId xmlns:a16="http://schemas.microsoft.com/office/drawing/2014/main" id="{E3B3BD3F-4C33-EC5C-9F38-C3E58663B24F}"/>
                </a:ext>
              </a:extLst>
            </p:cNvPr>
            <p:cNvSpPr/>
            <p:nvPr/>
          </p:nvSpPr>
          <p:spPr>
            <a:xfrm>
              <a:off x="639" y="351"/>
              <a:ext cx="8623" cy="1128"/>
            </a:xfrm>
            <a:custGeom>
              <a:avLst/>
              <a:gdLst>
                <a:gd name="connsiteX0" fmla="*/ 0 w 2222628"/>
                <a:gd name="connsiteY0" fmla="*/ 964353 h 964353"/>
                <a:gd name="connsiteX1" fmla="*/ 505504 w 2222628"/>
                <a:gd name="connsiteY1" fmla="*/ 0 h 964353"/>
                <a:gd name="connsiteX2" fmla="*/ 2222628 w 2222628"/>
                <a:gd name="connsiteY2" fmla="*/ 0 h 964353"/>
                <a:gd name="connsiteX3" fmla="*/ 1717124 w 2222628"/>
                <a:gd name="connsiteY3" fmla="*/ 964353 h 964353"/>
                <a:gd name="connsiteX4" fmla="*/ 0 w 2222628"/>
                <a:gd name="connsiteY4" fmla="*/ 964353 h 964353"/>
                <a:gd name="connsiteX0-1" fmla="*/ 0 w 2222628"/>
                <a:gd name="connsiteY0-2" fmla="*/ 964353 h 964353"/>
                <a:gd name="connsiteX1-3" fmla="*/ 19729 w 2222628"/>
                <a:gd name="connsiteY1-4" fmla="*/ 0 h 964353"/>
                <a:gd name="connsiteX2-5" fmla="*/ 2222628 w 2222628"/>
                <a:gd name="connsiteY2-6" fmla="*/ 0 h 964353"/>
                <a:gd name="connsiteX3-7" fmla="*/ 1717124 w 2222628"/>
                <a:gd name="connsiteY3-8" fmla="*/ 964353 h 964353"/>
                <a:gd name="connsiteX4-9" fmla="*/ 0 w 2222628"/>
                <a:gd name="connsiteY4-10" fmla="*/ 964353 h 964353"/>
                <a:gd name="connsiteX0-11" fmla="*/ 0 w 2222628"/>
                <a:gd name="connsiteY0-12" fmla="*/ 964353 h 964353"/>
                <a:gd name="connsiteX1-13" fmla="*/ 679 w 2222628"/>
                <a:gd name="connsiteY1-14" fmla="*/ 0 h 964353"/>
                <a:gd name="connsiteX2-15" fmla="*/ 2222628 w 2222628"/>
                <a:gd name="connsiteY2-16" fmla="*/ 0 h 964353"/>
                <a:gd name="connsiteX3-17" fmla="*/ 1717124 w 2222628"/>
                <a:gd name="connsiteY3-18" fmla="*/ 964353 h 964353"/>
                <a:gd name="connsiteX4-19" fmla="*/ 0 w 2222628"/>
                <a:gd name="connsiteY4-20" fmla="*/ 964353 h 9643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222628" h="964353">
                  <a:moveTo>
                    <a:pt x="0" y="964353"/>
                  </a:moveTo>
                  <a:cubicBezTo>
                    <a:pt x="226" y="642902"/>
                    <a:pt x="453" y="321451"/>
                    <a:pt x="679" y="0"/>
                  </a:cubicBezTo>
                  <a:lnTo>
                    <a:pt x="2222628" y="0"/>
                  </a:lnTo>
                  <a:lnTo>
                    <a:pt x="1717124" y="964353"/>
                  </a:lnTo>
                  <a:lnTo>
                    <a:pt x="0" y="964353"/>
                  </a:ln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05" name="TextBox 23">
              <a:extLst>
                <a:ext uri="{FF2B5EF4-FFF2-40B4-BE49-F238E27FC236}">
                  <a16:creationId xmlns:a16="http://schemas.microsoft.com/office/drawing/2014/main" id="{C1EC6745-D2C8-EE53-2283-2CDC6CA11368}"/>
                </a:ext>
              </a:extLst>
            </p:cNvPr>
            <p:cNvSpPr txBox="1"/>
            <p:nvPr/>
          </p:nvSpPr>
          <p:spPr>
            <a:xfrm>
              <a:off x="638" y="409"/>
              <a:ext cx="6521" cy="9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 b="1" dirty="0">
                  <a:solidFill>
                    <a:srgbClr val="FFFFFF"/>
                  </a:solidFill>
                  <a:latin typeface="微软雅黑" panose="020B0503020204020204" pitchFamily="34" charset="-122"/>
                </a:rPr>
                <a:t>三、竞品对比分析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F123C83-293B-7F4F-9906-9774C07813A9}"/>
                </a:ext>
              </a:extLst>
            </p:cNvPr>
            <p:cNvSpPr/>
            <p:nvPr/>
          </p:nvSpPr>
          <p:spPr>
            <a:xfrm>
              <a:off x="6860" y="1399"/>
              <a:ext cx="11332" cy="8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118898" tIns="59449" rIns="118898" bIns="59449" anchor="ctr"/>
            <a:lstStyle/>
            <a:p>
              <a:pPr marL="0" marR="0" lvl="0" indent="0" algn="ctr" defTabSz="11880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185" b="0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928D648C-E596-974B-37F2-52AEE2163AB3}"/>
              </a:ext>
            </a:extLst>
          </p:cNvPr>
          <p:cNvSpPr txBox="1"/>
          <p:nvPr/>
        </p:nvSpPr>
        <p:spPr>
          <a:xfrm>
            <a:off x="4545965" y="6550223"/>
            <a:ext cx="35001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</a:rPr>
              <a:t>图</a:t>
            </a:r>
            <a:r>
              <a:rPr lang="en-US" altLang="zh-CN" sz="1400" dirty="0">
                <a:solidFill>
                  <a:schemeClr val="tx1"/>
                </a:solidFill>
              </a:rPr>
              <a:t> </a:t>
            </a:r>
            <a:r>
              <a:rPr lang="en-US" altLang="zh-CN" sz="1400" dirty="0"/>
              <a:t> </a:t>
            </a:r>
            <a:r>
              <a:rPr lang="zh-CN" altLang="en-US" sz="1400" dirty="0"/>
              <a:t>美的</a:t>
            </a:r>
            <a:r>
              <a:rPr lang="en-US" altLang="zh-CN" sz="1400" dirty="0"/>
              <a:t>M2H1</a:t>
            </a:r>
            <a:r>
              <a:rPr lang="en-US" altLang="zh-CN" sz="14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400" dirty="0"/>
              <a:t>VS  </a:t>
            </a:r>
            <a:r>
              <a:rPr lang="zh-CN" altLang="en-US" sz="1400" dirty="0"/>
              <a:t>格兰仕</a:t>
            </a:r>
            <a:r>
              <a:rPr lang="en-US" altLang="zh-CN" sz="1400" dirty="0"/>
              <a:t>GPV20-KJ1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15870FDE-D664-C92A-DF18-4A2120EA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F15040-2384-4D08-AAD9-8BF47BBA09FA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4006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802005" y="1367813"/>
            <a:ext cx="9639853" cy="5029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</a:rPr>
              <a:t>Q1: “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</a:rPr>
              <a:t>复古奶油风”产品呈现什么样的评论反馈差异？</a:t>
            </a:r>
            <a:endParaRPr lang="en-US" altLang="zh-CN" sz="2000" b="1" dirty="0">
              <a:solidFill>
                <a:srgbClr val="002060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000" b="1" dirty="0">
              <a:solidFill>
                <a:srgbClr val="002060"/>
              </a:solidFill>
              <a:latin typeface="微软雅黑" panose="020B0503020204020204" pitchFamily="34" charset="-122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</a:rPr>
              <a:t>从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</a:rPr>
              <a:t>关键词视角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</a:rPr>
              <a:t>看，两品牌评论反馈差异较小，集中在颜值和基础操作上；</a:t>
            </a:r>
            <a:endParaRPr lang="en-US" altLang="zh-CN" dirty="0">
              <a:solidFill>
                <a:srgbClr val="002060"/>
              </a:solidFill>
              <a:latin typeface="微软雅黑" panose="020B0503020204020204" pitchFamily="34" charset="-122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</a:rPr>
              <a:t>而从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</a:rPr>
              <a:t>评论业务分类视角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</a:rPr>
              <a:t>看，美的的评论更多地偏向质量评价和功能评价，说明美的的用户相对而言更加偏向理性决策。</a:t>
            </a:r>
            <a:endParaRPr lang="en-US" altLang="zh-CN" dirty="0">
              <a:solidFill>
                <a:srgbClr val="002060"/>
              </a:solidFill>
              <a:latin typeface="微软雅黑" panose="020B0503020204020204" pitchFamily="34" charset="-122"/>
            </a:endParaRPr>
          </a:p>
          <a:p>
            <a:endParaRPr lang="en-US" altLang="zh-CN" dirty="0">
              <a:solidFill>
                <a:srgbClr val="002060"/>
              </a:solidFill>
              <a:latin typeface="微软雅黑" panose="020B0503020204020204" pitchFamily="34" charset="-122"/>
            </a:endParaRPr>
          </a:p>
          <a:p>
            <a:endParaRPr lang="en-US" altLang="zh-CN" dirty="0">
              <a:solidFill>
                <a:srgbClr val="002060"/>
              </a:solidFill>
              <a:latin typeface="微软雅黑" panose="020B0503020204020204" pitchFamily="34" charset="-122"/>
            </a:endParaRPr>
          </a:p>
          <a:p>
            <a:endParaRPr lang="zh-CN" altLang="en-US" sz="1400" dirty="0">
              <a:solidFill>
                <a:srgbClr val="002060"/>
              </a:solidFill>
              <a:latin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</a:rPr>
              <a:t>Q2: CMF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</a:rPr>
              <a:t>设计带来的新质量风险是什么？</a:t>
            </a:r>
            <a:endParaRPr lang="en-US" altLang="zh-CN" sz="2000" b="1" dirty="0">
              <a:solidFill>
                <a:srgbClr val="002060"/>
              </a:solidFill>
              <a:latin typeface="微软雅黑" panose="020B0503020204020204" pitchFamily="34" charset="-122"/>
            </a:endParaRPr>
          </a:p>
          <a:p>
            <a:endParaRPr lang="zh-CN" altLang="en-US" sz="2000" b="1" dirty="0">
              <a:solidFill>
                <a:srgbClr val="002060"/>
              </a:solidFill>
              <a:latin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</a:rPr>
              <a:t>    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</a:rPr>
              <a:t>通过质量关键词挖掘，识别出以下新风险：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</a:rPr>
              <a:t>感官质量风险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</a:rPr>
              <a:t>：复古旋钮的阻尼感、机身接缝的精细度在亮色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</a:rPr>
              <a:t>浅色涂装下更易被察觉，任何工艺瑕疵都会被视觉放大。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</a:rPr>
              <a:t>材质可靠性风险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</a:rPr>
              <a:t>：奶油色漆面在长期微波加热环境下的耐黄变性，是用户后续关注的隐患。</a:t>
            </a:r>
          </a:p>
          <a:p>
            <a:pPr>
              <a:lnSpc>
                <a:spcPct val="150000"/>
              </a:lnSpc>
            </a:pPr>
            <a:endParaRPr lang="zh-CN" altLang="en-US" sz="15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05130" y="222885"/>
            <a:ext cx="11146790" cy="716280"/>
            <a:chOff x="638" y="351"/>
            <a:chExt cx="17554" cy="1128"/>
          </a:xfrm>
        </p:grpSpPr>
        <p:sp>
          <p:nvSpPr>
            <p:cNvPr id="5" name="Parallelogram 13"/>
            <p:cNvSpPr/>
            <p:nvPr/>
          </p:nvSpPr>
          <p:spPr>
            <a:xfrm>
              <a:off x="639" y="351"/>
              <a:ext cx="8623" cy="1128"/>
            </a:xfrm>
            <a:custGeom>
              <a:avLst/>
              <a:gdLst>
                <a:gd name="connsiteX0" fmla="*/ 0 w 2222628"/>
                <a:gd name="connsiteY0" fmla="*/ 964353 h 964353"/>
                <a:gd name="connsiteX1" fmla="*/ 505504 w 2222628"/>
                <a:gd name="connsiteY1" fmla="*/ 0 h 964353"/>
                <a:gd name="connsiteX2" fmla="*/ 2222628 w 2222628"/>
                <a:gd name="connsiteY2" fmla="*/ 0 h 964353"/>
                <a:gd name="connsiteX3" fmla="*/ 1717124 w 2222628"/>
                <a:gd name="connsiteY3" fmla="*/ 964353 h 964353"/>
                <a:gd name="connsiteX4" fmla="*/ 0 w 2222628"/>
                <a:gd name="connsiteY4" fmla="*/ 964353 h 964353"/>
                <a:gd name="connsiteX0-1" fmla="*/ 0 w 2222628"/>
                <a:gd name="connsiteY0-2" fmla="*/ 964353 h 964353"/>
                <a:gd name="connsiteX1-3" fmla="*/ 19729 w 2222628"/>
                <a:gd name="connsiteY1-4" fmla="*/ 0 h 964353"/>
                <a:gd name="connsiteX2-5" fmla="*/ 2222628 w 2222628"/>
                <a:gd name="connsiteY2-6" fmla="*/ 0 h 964353"/>
                <a:gd name="connsiteX3-7" fmla="*/ 1717124 w 2222628"/>
                <a:gd name="connsiteY3-8" fmla="*/ 964353 h 964353"/>
                <a:gd name="connsiteX4-9" fmla="*/ 0 w 2222628"/>
                <a:gd name="connsiteY4-10" fmla="*/ 964353 h 964353"/>
                <a:gd name="connsiteX0-11" fmla="*/ 0 w 2222628"/>
                <a:gd name="connsiteY0-12" fmla="*/ 964353 h 964353"/>
                <a:gd name="connsiteX1-13" fmla="*/ 679 w 2222628"/>
                <a:gd name="connsiteY1-14" fmla="*/ 0 h 964353"/>
                <a:gd name="connsiteX2-15" fmla="*/ 2222628 w 2222628"/>
                <a:gd name="connsiteY2-16" fmla="*/ 0 h 964353"/>
                <a:gd name="connsiteX3-17" fmla="*/ 1717124 w 2222628"/>
                <a:gd name="connsiteY3-18" fmla="*/ 964353 h 964353"/>
                <a:gd name="connsiteX4-19" fmla="*/ 0 w 2222628"/>
                <a:gd name="connsiteY4-20" fmla="*/ 964353 h 9643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222628" h="964353">
                  <a:moveTo>
                    <a:pt x="0" y="964353"/>
                  </a:moveTo>
                  <a:cubicBezTo>
                    <a:pt x="226" y="642902"/>
                    <a:pt x="453" y="321451"/>
                    <a:pt x="679" y="0"/>
                  </a:cubicBezTo>
                  <a:lnTo>
                    <a:pt x="2222628" y="0"/>
                  </a:lnTo>
                  <a:lnTo>
                    <a:pt x="1717124" y="964353"/>
                  </a:lnTo>
                  <a:lnTo>
                    <a:pt x="0" y="964353"/>
                  </a:ln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23"/>
            <p:cNvSpPr txBox="1"/>
            <p:nvPr/>
          </p:nvSpPr>
          <p:spPr>
            <a:xfrm>
              <a:off x="638" y="409"/>
              <a:ext cx="6521" cy="9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 b="1" dirty="0">
                  <a:solidFill>
                    <a:srgbClr val="FFFFFF"/>
                  </a:solidFill>
                  <a:latin typeface="微软雅黑" panose="020B0503020204020204" pitchFamily="34" charset="-122"/>
                </a:rPr>
                <a:t>四、</a:t>
              </a:r>
              <a:r>
                <a:rPr lang="zh-CN" altLang="en-US" sz="3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方正小标宋简体" pitchFamily="65" charset="-122"/>
                  <a:sym typeface="微软雅黑" panose="020B0503020204020204" pitchFamily="34" charset="-122"/>
                </a:rPr>
                <a:t>结论</a:t>
              </a:r>
              <a:endParaRPr lang="zh-CN" altLang="en-US" sz="3200" b="1" dirty="0">
                <a:solidFill>
                  <a:srgbClr val="FFFF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860" y="1399"/>
              <a:ext cx="11332" cy="8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118898" tIns="59449" rIns="118898" bIns="59449" anchor="ctr"/>
            <a:lstStyle/>
            <a:p>
              <a:pPr marL="0" marR="0" lvl="0" indent="0" algn="ctr" defTabSz="11880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185" b="0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624A8C-E641-BD4C-4571-57B34A7FD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F15040-2384-4D08-AAD9-8BF47BBA09FA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DDA10-8A4D-E650-682F-C9AC1B57C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2BEC66BA-EDB8-BB5F-F865-C17BF1DDED98}"/>
              </a:ext>
            </a:extLst>
          </p:cNvPr>
          <p:cNvSpPr txBox="1"/>
          <p:nvPr/>
        </p:nvSpPr>
        <p:spPr>
          <a:xfrm>
            <a:off x="644689" y="939165"/>
            <a:ext cx="11389995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2000" b="1" dirty="0">
              <a:solidFill>
                <a:srgbClr val="002060"/>
              </a:solidFill>
              <a:latin typeface="微软雅黑" panose="020B0503020204020204" pitchFamily="34" charset="-122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</a:rPr>
              <a:t>中差评分析不足：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</a:rPr>
              <a:t>由于品类上线时间较短，单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</a:rPr>
              <a:t>SKU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</a:rPr>
              <a:t>中差评数据量少，有效条数仅为个位数，难以支撑定量分析，后续会结合小红书等社交媒体数据，融合多电商平台客诉，完善对第二个问题，即“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</a:rPr>
              <a:t>CMF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</a:rPr>
              <a:t>设计会带来什么质量问题“的具体回答。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</a:rPr>
              <a:t>竞品较为单一：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</a:rPr>
              <a:t>后续应在不同价位段选取多组竞品，进行「价格敏感度」与「品质期望」的交叉分析。</a:t>
            </a:r>
            <a:endParaRPr lang="zh-CN" altLang="en-US" b="1" dirty="0">
              <a:solidFill>
                <a:srgbClr val="002060"/>
              </a:solidFill>
              <a:latin typeface="微软雅黑" panose="020B0503020204020204" pitchFamily="34" charset="-122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</a:rPr>
              <a:t>长周期追踪：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</a:rPr>
              <a:t>目前数据多为“到货好评”，需引入「追加评价」分析 </a:t>
            </a:r>
            <a:r>
              <a:rPr lang="en-US" altLang="zh-CN" dirty="0">
                <a:solidFill>
                  <a:srgbClr val="002060"/>
                </a:solidFill>
                <a:latin typeface="微软雅黑" panose="020B0503020204020204" pitchFamily="34" charset="-122"/>
              </a:rPr>
              <a:t>CMF </a:t>
            </a:r>
            <a:r>
              <a:rPr lang="zh-CN" altLang="en-US" dirty="0">
                <a:solidFill>
                  <a:srgbClr val="002060"/>
                </a:solidFill>
                <a:latin typeface="微软雅黑" panose="020B0503020204020204" pitchFamily="34" charset="-122"/>
              </a:rPr>
              <a:t>随时间推移的折旧情况。</a:t>
            </a:r>
            <a:endParaRPr lang="en-US" altLang="zh-CN" dirty="0">
              <a:solidFill>
                <a:srgbClr val="002060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965D48C-5CF0-FBCF-FAB0-180FDCF5C5F5}"/>
              </a:ext>
            </a:extLst>
          </p:cNvPr>
          <p:cNvGrpSpPr/>
          <p:nvPr/>
        </p:nvGrpSpPr>
        <p:grpSpPr>
          <a:xfrm>
            <a:off x="405130" y="222885"/>
            <a:ext cx="11146790" cy="716280"/>
            <a:chOff x="638" y="351"/>
            <a:chExt cx="17554" cy="1128"/>
          </a:xfrm>
        </p:grpSpPr>
        <p:sp>
          <p:nvSpPr>
            <p:cNvPr id="5" name="Parallelogram 13">
              <a:extLst>
                <a:ext uri="{FF2B5EF4-FFF2-40B4-BE49-F238E27FC236}">
                  <a16:creationId xmlns:a16="http://schemas.microsoft.com/office/drawing/2014/main" id="{587FB069-BAF2-38E1-CB93-A34602AF1C49}"/>
                </a:ext>
              </a:extLst>
            </p:cNvPr>
            <p:cNvSpPr/>
            <p:nvPr/>
          </p:nvSpPr>
          <p:spPr>
            <a:xfrm>
              <a:off x="639" y="351"/>
              <a:ext cx="8623" cy="1128"/>
            </a:xfrm>
            <a:custGeom>
              <a:avLst/>
              <a:gdLst>
                <a:gd name="connsiteX0" fmla="*/ 0 w 2222628"/>
                <a:gd name="connsiteY0" fmla="*/ 964353 h 964353"/>
                <a:gd name="connsiteX1" fmla="*/ 505504 w 2222628"/>
                <a:gd name="connsiteY1" fmla="*/ 0 h 964353"/>
                <a:gd name="connsiteX2" fmla="*/ 2222628 w 2222628"/>
                <a:gd name="connsiteY2" fmla="*/ 0 h 964353"/>
                <a:gd name="connsiteX3" fmla="*/ 1717124 w 2222628"/>
                <a:gd name="connsiteY3" fmla="*/ 964353 h 964353"/>
                <a:gd name="connsiteX4" fmla="*/ 0 w 2222628"/>
                <a:gd name="connsiteY4" fmla="*/ 964353 h 964353"/>
                <a:gd name="connsiteX0-1" fmla="*/ 0 w 2222628"/>
                <a:gd name="connsiteY0-2" fmla="*/ 964353 h 964353"/>
                <a:gd name="connsiteX1-3" fmla="*/ 19729 w 2222628"/>
                <a:gd name="connsiteY1-4" fmla="*/ 0 h 964353"/>
                <a:gd name="connsiteX2-5" fmla="*/ 2222628 w 2222628"/>
                <a:gd name="connsiteY2-6" fmla="*/ 0 h 964353"/>
                <a:gd name="connsiteX3-7" fmla="*/ 1717124 w 2222628"/>
                <a:gd name="connsiteY3-8" fmla="*/ 964353 h 964353"/>
                <a:gd name="connsiteX4-9" fmla="*/ 0 w 2222628"/>
                <a:gd name="connsiteY4-10" fmla="*/ 964353 h 964353"/>
                <a:gd name="connsiteX0-11" fmla="*/ 0 w 2222628"/>
                <a:gd name="connsiteY0-12" fmla="*/ 964353 h 964353"/>
                <a:gd name="connsiteX1-13" fmla="*/ 679 w 2222628"/>
                <a:gd name="connsiteY1-14" fmla="*/ 0 h 964353"/>
                <a:gd name="connsiteX2-15" fmla="*/ 2222628 w 2222628"/>
                <a:gd name="connsiteY2-16" fmla="*/ 0 h 964353"/>
                <a:gd name="connsiteX3-17" fmla="*/ 1717124 w 2222628"/>
                <a:gd name="connsiteY3-18" fmla="*/ 964353 h 964353"/>
                <a:gd name="connsiteX4-19" fmla="*/ 0 w 2222628"/>
                <a:gd name="connsiteY4-20" fmla="*/ 964353 h 9643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222628" h="964353">
                  <a:moveTo>
                    <a:pt x="0" y="964353"/>
                  </a:moveTo>
                  <a:cubicBezTo>
                    <a:pt x="226" y="642902"/>
                    <a:pt x="453" y="321451"/>
                    <a:pt x="679" y="0"/>
                  </a:cubicBezTo>
                  <a:lnTo>
                    <a:pt x="2222628" y="0"/>
                  </a:lnTo>
                  <a:lnTo>
                    <a:pt x="1717124" y="964353"/>
                  </a:lnTo>
                  <a:lnTo>
                    <a:pt x="0" y="964353"/>
                  </a:lnTo>
                  <a:close/>
                </a:path>
              </a:pathLst>
            </a:custGeom>
            <a:solidFill>
              <a:srgbClr val="0033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23">
              <a:extLst>
                <a:ext uri="{FF2B5EF4-FFF2-40B4-BE49-F238E27FC236}">
                  <a16:creationId xmlns:a16="http://schemas.microsoft.com/office/drawing/2014/main" id="{7F819CC7-83FD-7BB3-B1CA-ED9734A52009}"/>
                </a:ext>
              </a:extLst>
            </p:cNvPr>
            <p:cNvSpPr txBox="1"/>
            <p:nvPr/>
          </p:nvSpPr>
          <p:spPr>
            <a:xfrm>
              <a:off x="638" y="409"/>
              <a:ext cx="6521" cy="9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200" b="1" dirty="0">
                  <a:solidFill>
                    <a:srgbClr val="FFFFFF"/>
                  </a:solidFill>
                  <a:latin typeface="微软雅黑" panose="020B0503020204020204" pitchFamily="34" charset="-122"/>
                </a:rPr>
                <a:t>四、</a:t>
              </a:r>
              <a:r>
                <a:rPr lang="zh-CN" altLang="en-US" sz="32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方正小标宋简体" pitchFamily="65" charset="-122"/>
                  <a:sym typeface="微软雅黑" panose="020B0503020204020204" pitchFamily="34" charset="-122"/>
                </a:rPr>
                <a:t>不足与展望</a:t>
              </a:r>
              <a:endParaRPr lang="zh-CN" altLang="en-US" sz="3200" b="1" dirty="0">
                <a:solidFill>
                  <a:srgbClr val="FFFF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B14A6F6-423D-3224-8EFB-E8D05AD1AE42}"/>
                </a:ext>
              </a:extLst>
            </p:cNvPr>
            <p:cNvSpPr/>
            <p:nvPr/>
          </p:nvSpPr>
          <p:spPr>
            <a:xfrm>
              <a:off x="6860" y="1399"/>
              <a:ext cx="11332" cy="8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ffectLst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118898" tIns="59449" rIns="118898" bIns="59449" anchor="ctr"/>
            <a:lstStyle/>
            <a:p>
              <a:pPr marL="0" marR="0" lvl="0" indent="0" algn="ctr" defTabSz="11880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185" b="0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18E2F3-46E6-6689-4C6D-71723AD85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F15040-2384-4D08-AAD9-8BF47BBA09FA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39801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826d41cb-3dba-422f-b110-26bb3ad38ff1"/>
  <p:tag name="COMMONDATA" val="eyJoZGlkIjoiZGE3MjA1MjhmMDA0ZDY5ZmNlMTUwNjY3YzVkYTJmZG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1512</Words>
  <Application>Microsoft Office PowerPoint</Application>
  <PresentationFormat>宽屏</PresentationFormat>
  <Paragraphs>177</Paragraphs>
  <Slides>13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等线</vt:lpstr>
      <vt:lpstr>方正小标宋简体</vt:lpstr>
      <vt:lpstr>黑体</vt:lpstr>
      <vt:lpstr>华文中宋</vt:lpstr>
      <vt:lpstr>微软雅黑</vt:lpstr>
      <vt:lpstr>Arial</vt:lpstr>
      <vt:lpstr>Calibri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李苑君</dc:creator>
  <cp:lastModifiedBy>yunhao yang</cp:lastModifiedBy>
  <cp:revision>144</cp:revision>
  <dcterms:created xsi:type="dcterms:W3CDTF">2021-04-08T05:58:00Z</dcterms:created>
  <dcterms:modified xsi:type="dcterms:W3CDTF">2026-04-08T03:09:21Z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8A871E821A5B4A3BA2BDFDEB3E2A6530_12</vt:lpwstr>
  </property>
  <property fmtid="{D5CDD505-2E9C-101B-9397-08002B2CF9AE}" pid="3" name="KSOProductBuildVer">
    <vt:lpwstr>2052-12.1.0.25225</vt:lpwstr>
  </property>
</Properties>
</file>